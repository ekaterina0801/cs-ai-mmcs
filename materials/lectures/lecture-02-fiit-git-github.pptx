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notesMasterIdLst>
    <p:notesMasterId r:id="rId82"/>
  </p:notesMasterIdLst>
  <p:sldSz cx="9144000" cy="5143500"/>
  <p:notesSz cx="5143500" cy="9144000"/>
  <p:embeddedFontLst>
    <p:embeddedFont>
      <p:font typeface="PT Sans"/>
      <p:regular r:id="rId87"/>
    </p:embeddedFont>
    <p:embeddedFont>
      <p:font typeface="PT Serif"/>
      <p:regular r:id="rId88"/>
    </p:embeddedFont>
    <p:embeddedFont>
      <p:font typeface="IBM Plex Mono"/>
      <p:regular r:id="rId8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Relationship Id="rId87" Type="http://schemas.openxmlformats.org/officeDocument/2006/relationships/font" Target="fonts/rId87.fntdata"/><Relationship Id="rId88" Type="http://schemas.openxmlformats.org/officeDocument/2006/relationships/font" Target="fonts/rId88.fntdata"/><Relationship Id="rId89" Type="http://schemas.openxmlformats.org/officeDocument/2006/relationships/font" Target="fonts/rId89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Планы лекций ПМИ и ФИИТ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Планы лекций ПМИ и ФИИТ
Тема продолжает первую лекцию: студент уже умеет сохранить main.py и запустить Python. Сегодня объектом изучения становится история разработки этой программы. На ПМИ отдельный практический воркшоп по восстановлению и отмене версий предусмотрен в теме 3; здесь достаточно подготовить устойчивую базовую модель.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https://git-scm.com/book/en/v2/Getting-Started-What-is-Git%3F
Названия вроде main_final_2.py показывают приблизительную последовательность копирования, но не задают связную историю проекта. Учебная цель — фиксировать законченные изменения с объяснением. Коммит следует делать после осмысленного этапа работы, а не после каждого нажатия клавиши.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https://git-scm.com/book/en/v2/Getting-Started-A-Short-History-of-Git
Ранее широко использовались централизованные системы, в которых общая история прежде всего находилась на сервере. При обычном полном клонировании Git разработчик получает локальную историю проекта. Это объясняет, почему команды просмотра истории и создания коммитов доступны без сети.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https://docs.github.com/en/get-started/git-basics/about-remote-repositories
Сохранить файл в редакторе, сделать коммит и отправить его на GitHub — три разные операции. Пользователь может выполнить первые две без сети. GitHub также предлагает Actions, но автоматическая проверка запускается отдельно и не заменяет создание коммита.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https://git-scm.com/docs/git-init
Для первой работы используется один репозиторий на одну папку проекта. Не создавайте новый вложенный репозиторий внутри уже выданного шаблона: если папка получена через git clone, Git уже настроен. Различайте исходные файлы и историю, которая описывает их версии.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https://git-scm.com/book/en/v2/Getting-Started-What-is-Git%3F
Это концептуальные области, а не три папки, между которыми нужно вручную копировать main.py. Когда программа сохранена в редакторе, изменена только рабочая область. git add подготавливает конкретное содержимое. git commit фиксирует подготовленный снимок.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Файл сохранён. Какие действия нужны, чтобы новая версия появилась на GitHub?
Попросите студента сначала предсказать результат и объяснить ход мысли. Следующее нажатие открывает следующий шаг; автоматического таймера нет.
Схема отражает основную учебную последовательность; стрелки обозначают действия, а не удаление исходных файлов. Источник: https://git-scm.com/docs/git-add ; https://git-scm.com/docs/git-commit ; https://git-scm.com/docs/git-push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Снимок уже в индексе. Что ещё нужно сделать для истории и публикации?
Попросите студента сначала предсказать результат и объяснить ход мысли. Следующее нажатие открывает следующий шаг; автоматического таймера нет.
Схема отражает основную учебную последовательность; стрелки обозначают действия, а не удаление исходных файлов. Источник: https://git-scm.com/docs/git-add ; https://git-scm.com/docs/git-commit ; https://git-scm.com/docs/git-push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Схема отражает основную учебную последовательность; стрелки обозначают действия, а не удаление исходных файлов. Источник: https://git-scm.com/docs/git-add ; https://git-scm.com/docs/git-commit ; https://git-scm.com/docs/git-push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https://git-scm.com/docs/git-status
Чистая рабочая область не означает, что все коммиты отправлены на GitHub. Файлы, исключённые правилами .gitignore, обычно не перечисляются в обычном статусе. Статус описывает состояние Git, а не доказывает правильность Python-программы.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Какие папки появятся после этих команд? Будет ли уже создан коммит?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https://git-scm.com/docs/git-init
Команды приведены по одной на строку. Знаки приглашения терминала не вводятся. git init -b main создаёт репозиторий с именем начальной ветки main; в свежем проекте коммитов ещё нет. Если папка уже существует, откройте её вместо повторного mkdir. Все последующие локальные команды выполняются в этой папке.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https://git-scm.com/docs/git-init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Репозиторий создан. Чем это отличается от первого коммита?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https://git-scm.com/docs/git-init
Команды приведены по одной на строку. Знаки приглашения терминала не вводятся. git init -b main создаёт репозиторий с именем начальной ветки main; в свежем проекте коммитов ещё нет. Если папка уже существует, откройте её вместо повторного mkdir. Все последующие локальные команды выполняются в этой папке.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https://git-scm.com/docs/git-init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https://git-scm.com/docs/git-init
Команды приведены по одной на строку. Знаки приглашения терминала не вводятся. git init -b main создаёт репозиторий с именем начальной ветки main; в свежем проекте коммитов ещё нет. Если папка уже существует, откройте её вместо повторного mkdir. Все последующие локальные команды выполняются в этой папке.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https://git-scm.com/docs/git-init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Что выведут две последние команды? Выполнили ли мы вход в GitHub?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https://git-scm.com/docs/git-config
user.name не обязан совпадать с логином GitHub. Эти команды не выполняют вход на сервер и не предоставляют доступ к удалённому репозиторию. Для связывания авторства на GitHub используйте адрес, связанный с учётной записью, либо её noreply-адрес из настроек. Значения student@example.com и «Имя Фамилия» служат обозначениями для замены.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https://git-scm.com/docs/git-config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Какие данные сохранены и для чего Git будет их использовать?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https://git-scm.com/docs/git-config
user.name не обязан совпадать с логином GitHub. Эти команды не выполняют вход на сервер и не предоставляют доступ к удалённому репозиторию. Для связывания авторства на GitHub используйте адрес, связанный с учётной записью, либо её noreply-адрес из настроек. Значения student@example.com и «Имя Фамилия» служат обозначениями для замены.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https://git-scm.com/docs/git-config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https://git-scm.com/docs/git-config
user.name не обязан совпадать с логином GitHub. Эти команды не выполняют вход на сервер и не предоставляют доступ к удалённому репозиторию. Для связывания авторства на GitHub используйте адрес, связанный с учётной записью, либо её noreply-адрес из настроек. Значения student@example.com и «Имя Фамилия» служат обозначениями для замены.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https://git-scm.com/docs/git-config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Какой результат напечатает программа? Проследите вычисление по строкам.
Попросите студента сначала предсказать результат и объяснить ход мысли. Следующее нажатие открывает следующий шаг; автоматического таймера нет.
[Sources]
Авторский учебный пример
Задача программы — вычисление площади прямоугольника. width обозначает ширину, height — высоту. Произведение сторон вычисляется до вызова print(). Если Python запускается командой python3, используйте её вместо python.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Почему получился именно такой результат и тип числа?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Авторский учебный пример
Задача программы — вычисление площади прямоугольника. width обозначает ширину, height — высоту. Произведение сторон вычисляется до вызова print(). Если Python запускается командой python3, используйте её вместо python.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Авторский учебный пример
Задача программы — вычисление площади прямоугольника. width обозначает ширину, height — высоту. Произведение сторон вычисляется до вызова print(). Если Python запускается командой python3, используйте её вместо python.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Файл сохранён, но add ещё не выполняли. Что покажет status?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https://git-scm.com/docs/git-status
Строка ?? main.py означает неотслеживаемый файл. Это нормальная стадия создания проекта. До первого коммита история пуста; отсутствие истории не является ошибкой. Формулировки полного вывода могут зависеть от языка интерфейса Git.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https://git-scm.com/docs/git-status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Что означают два вопросительных знака? Что делать дальше?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https://git-scm.com/docs/git-status
Строка ?? main.py означает неотслеживаемый файл. Это нормальная стадия создания проекта. До первого коммита история пуста; отсутствие истории не является ошибкой. Формулировки полного вывода могут зависеть от языка интерфейса Git.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https://git-scm.com/docs/git-status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https://git-scm.com/docs/git-status
Строка ?? main.py означает неотслеживаемый файл. Это нормальная стадия создания проекта. До первого коммита история пуста; отсутствие истории не является ошибкой. Формулировки полного вывода могут зависеть от языка интерфейса Git.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https://git-scm.com/docs/git-status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Что изменится после add? Появится ли коммит или файл на GitHub?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https://git-scm.com/docs/git-add
После добавления нового файла индекс содержит его подготовленное состояние. Если затем изменить и сохранить main.py ещё раз, это не обновит индекс автоматически: потребуется повторный git add. Поэтому add — выбор содержимого на данный момент, а не постоянное включение всех будущих правок.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https://git-scm.com/docs/git-add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Почему A стоит в первой позиции? Что означает пробел во второй?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https://git-scm.com/docs/git-add
После добавления нового файла индекс содержит его подготовленное состояние. Если затем изменить и сохранить main.py ещё раз, это не обновит индекс автоматически: потребуется повторный git add. Поэтому add — выбор содержимого на данный момент, а не постоянное включение всех будущих правок.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https://git-scm.com/docs/git-add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https://git-scm.com/docs/git-add
После добавления нового файла индекс содержит его подготовленное состояние. Если затем изменить и сохранить main.py ещё раз, это не обновит индекс автоматически: потребуется повторный git add. Поэтому add — выбор содержимого на данный момент, а не постоянное включение всех будущих правок.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https://git-scm.com/docs/git-add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Что изменится после commit? Что покажут status и log?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https://git-scm.com/docs/git-commit
После успешного commit исходные файлы остаются на диске, а история получает новую версию. Коммит содержит снимок отслеживаемых файлов, сообщение, сведения об авторе и ссылки на родительские коммиты. Git идентифицирует коммиты хешами; сокращённый идентификатор в вашем выводе будет отличаться от учебного примера.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https://git-scm.com/docs/git-commit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Почему status ничего не выводит, а log показывает запись?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https://git-scm.com/docs/git-commit
После успешного commit исходные файлы остаются на диске, а история получает новую версию. Коммит содержит снимок отслеживаемых файлов, сообщение, сведения об авторе и ссылки на родительские коммиты. Git идентифицирует коммиты хешами; сокращённый идентификатор в вашем выводе будет отличаться от учебного примера.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https://git-scm.com/docs/git-commit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https://git-scm.com/docs/git-commit
После успешного commit исходные файлы остаются на диске, а история получает новую версию. Коммит содержит снимок отслеживаемых файлов, сообщение, сведения об авторе и ссылки на родительские коммиты. Git идентифицирует коммиты хешами; сокращённый идентификатор в вашем выводе будет отличаться от учебного примера.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https://git-scm.com/docs/git-commit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Что изменилось в программе? Предскажите вывод для контрольного ввода. Ввод: 3 и 4.
Попросите студента сначала предсказать результат и объяснить ход мысли. Следующее нажатие открывает следующий шаг; автоматического таймера нет.
[Sources]
Авторский учебный пример
Python input() возвращает строку, float() преобразует её в число. Формат :.1f выводит один знак после точки. Вычислительная формула сохраняется; меняется способ получения данных и представления результата. Это связанное изменение, которое можно описать одним коммитом.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 связаны input(), float() и формат :.1f?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Авторский учебный пример
Python input() возвращает строку, float() преобразует её в число. Формат :.1f выводит один знак после точки. Вычислительная формула сохраняется; меняется способ получения данных и представления результата. Это связанное изменение, которое можно описать одним коммитом.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Авторский учебный пример
Python input() возвращает строку, float() преобразует её в число. Формат :.1f выводит один знак после точки. Вычислительная формула сохраняется; меняется способ получения данных и представления результата. Это связанное изменение, которое можно описать одним коммитом.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Мы изменили файл, но не выполнили add. Какие версии сравнит diff?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https://git-scm.com/docs/git-diff
Символы плюса и минуса в diff являются обозначениями сравнения: их не копируют в программу. Строки заголовка с путями файлов и номерами диапазонов помогают найти изменённый участок. Здесь достаточно читать содержательные строки; подробная работа с различиями для ПМИ продолжится в теме 3.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https://git-scm.com/docs/git-diff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 прочитать строки с минусом и плюсом?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https://git-scm.com/docs/git-diff
Символы плюса и минуса в diff являются обозначениями сравнения: их не копируют в программу. Строки заголовка с путями файлов и номерами диапазонов помогают найти изменённый участок. Здесь достаточно читать содержательные строки; подробная работа с различиями для ПМИ продолжится в теме 3.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https://git-scm.com/docs/git-diff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https://git-scm.com/docs/git-diff
Символы плюса и минуса в diff являются обозначениями сравнения: их не копируют в программу. Строки заголовка с путями файлов и номерами диапазонов помогают найти изменённый участок. Здесь достаточно читать содержательные строки; подробная работа с различиями для ПМИ продолжится в теме 3.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https://git-scm.com/docs/git-diff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После add обычный diff пуст. А что покажет diff --staged?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https://git-scm.com/docs/git-diff
На этой стадии обычный diff пуст потому, что рабочая область совпадает с индексом, а не потому, что исчезло изменение относительно истории. Два варианта diff отвечают на разные вопросы. Перед commit полезно проверить --staged и убедиться, что подготовлены только относящиеся к задаче изменения.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https://git-scm.com/docs/git-diff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Почему одна команда ничего не показала, а другая показала изменения?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https://git-scm.com/docs/git-diff
На этой стадии обычный diff пуст потому, что рабочая область совпадает с индексом, а не потому, что исчезло изменение относительно истории. Два варианта diff отвечают на разные вопросы. Перед commit полезно проверить --staged и убедиться, что подготовлены только относящиеся к задаче изменения.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https://git-scm.com/docs/git-diff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https://git-scm.com/docs/git-diff
На этой стадии обычный diff пуст потому, что рабочая область совпадает с индексом, а не потому, что исчезло изменение относительно истории. Два варианта diff отвечают на разные вопросы. Перед commit полезно проверить --staged и убедиться, что подготовлены только относящиеся к задаче изменения.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https://git-scm.com/docs/git-diff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https://git-scm.com/docs/git-add
Предложите студенту после каждого действия назвать, что уже существует: файл, подготовленное изменение, коммит или коммит на GitHub. Такой контроль позволяет обнаружить пропущенный шаг. Открытая вкладка браузера GitHub сама по себе не обновляет историю на сервере.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История A, индекс B, рабочий файл C. Что сохранит commit и что покажет status?
Попросите студента сначала предсказать результат и объяснить ход мысли. Следующее нажатие открывает следующий шаг; автоматического таймера нет.
Это отдельный мысленный эксперимент, не следующий шаг сквозного проекта. В обычном commit без -a и путей сохраняется подготовленное состояние. https://git-scm.com/docs/git-add ; https://git-scm.com/docs/git-status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Это отдельный мысленный эксперимент, не следующий шаг сквозного проекта. В обычном commit без -a и путей сохраняется подготовленное состояние. https://git-scm.com/docs/git-add ; https://git-scm.com/docs/git-status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Сколько записей будет в истории после этих команд? Какая окажется сверху?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https://git-scm.com/docs/git-commit
Сообщение «Read values from input» описывает действие. Формулировка «fix» без контекста не объясняет, что исправлено. Нет обязательного количества строк на коммит: важнее связность. Изменения, которые преследуют разные цели, лучше фиксировать отдельно.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https://git-scm.com/docs/git-commit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Что говорит сообщение нового коммита о смысле изменения?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https://git-scm.com/docs/git-commit
Сообщение «Read values from input» описывает действие. Формулировка «fix» без контекста не объясняет, что исправлено. Нет обязательного количества строк на коммит: важнее связность. Изменения, которые преследуют разные цели, лучше фиксировать отдельно.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https://git-scm.com/docs/git-commit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https://git-scm.com/docs/git-commit
Сообщение «Read values from input» описывает действие. Формулировка «fix» без контекста не объясняет, что исправлено. Нет обязательного количества строк на коммит: важнее связность. Изменения, которые преследуют разные цели, лучше фиксировать отдельно.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https://git-scm.com/docs/git-commit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Какую информацию покажет log --oneline? В каком порядке?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https://git-scm.com/docs/git-log
Команда git log без --oneline показывает более подробные сведения. Для длинного вывода Git может открыть просмотрщик; клавиша q закрывает его. Наличие двух коммитов подтверждает два этапа истории, но не заменяет проверку их содержимого и запуск программы.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https://git-scm.com/docs/git-log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 отличить идентификатор версии от сообщения коммита?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https://git-scm.com/docs/git-log
Команда git log без --oneline показывает более подробные сведения. Для длинного вывода Git может открыть просмотрщик; клавиша q закрывает его. Наличие двух коммитов подтверждает два этапа истории, но не заменяет проверку их содержимого и запуск программы.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https://git-scm.com/docs/git-log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https://git-scm.com/docs/git-log
Команда git log без --oneline показывает более подробные сведения. Для длинного вывода Git может открыть просмотрщик; клавиша q закрывает его. Наличие двух коммитов подтверждает два этапа истории, но не заменяет проверку их содержимого и запуск программы.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https://git-scm.com/docs/git-log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https://git-scm.com/docs/git-branch
Стрелка в учебной записи обозначает порядок разработки; у объекта коммита ссылка направлена к родителю. Для ФИИТ достаточно понимать смысл ветки и прочитать её имя. Для ПМИ создание экспериментальных веток и восстановление состояний относятся к следующему воркшопу.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Markdown — текстовый формат разметки; для простого README достаточно заголовка с # и обычных абзацев. В текущем проекте на вход подаются два числа отдельными строками. Для обоих направлений контрольный вывод равен 12.0, но смысл вычисляемой величины различается.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Какие файлы исключают эти правила? Нужно ли сохранять сам .gitignore?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https://git-scm.com/docs/gitignore
Файлы окружения можно создать заново по инструкции; хранить их как исходный код не требуется. Сам .gitignore включают в историю. Новое правило не удаляет уже отслеживаемый файл из индекса или истории. До добавления проекта проверьте, что в нём нет паролей или токенов. .gitignore не является средством удаления ранее опубликованных секретов. В этой лекции не требуется изучать команды переписывания истории.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https://git-scm.com/docs/gitignore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Почему README.md и .gitignore тоже добавляют в историю?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https://git-scm.com/docs/gitignore
Файлы окружения можно создать заново по инструкции; хранить их как исходный код не требуется. Сам .gitignore включают в историю. Новое правило не удаляет уже отслеживаемый файл из индекса или истории. До добавления проекта проверьте, что в нём нет паролей или токенов. .gitignore не является средством удаления ранее опубликованных секретов. В этой лекции не требуется изучать команды переписывания истории.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https://git-scm.com/docs/gitignore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https://git-scm.com/docs/gitignore
Файлы окружения можно создать заново по инструкции; хранить их как исходный код не требуется. Сам .gitignore включают в историю. Новое правило не удаляет уже отслеживаемый файл из индекса или истории. До добавления проекта проверьте, что в нём нет паролей или токенов. .gitignore не является средством удаления ранее опубликованных секретов. В этой лекции не требуется изучать команды переписывания истории.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https://git-scm.com/docs/gitignore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Какая новая запись появится в истории? Зачем отдельный коммит документации?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Авторский учебный пример
Третий коммит объединяет небольшую документацию проекта и правила исключения служебных файлов. В рабочей области должны остаться main.py, README.md и .gitignore, а в истории — три коммита. Папка .git является служебной и не включается в коммит как обычный файл.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Какие три этапа проекта теперь можно восстановить по истории?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Авторский учебный пример
Третий коммит объединяет небольшую документацию проекта и правила исключения служебных файлов. В рабочей области должны остаться main.py, README.md и .gitignore, а в истории — три коммита. Папка .git является служебной и не включается в коммит как обычный файл.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Авторский учебный пример
Третий коммит объединяет небольшую документацию проекта и правила исключения служебных файлов. В рабочей области должны остаться main.py, README.md и .gitignore, а в истории — три коммита. Папка .git является служебной и не включается в коммит как обычный файл.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https://git-scm.com/docs/git-remote
У проекта может быть несколько удалённых адресов. Для первого занятия достаточно одного origin. Слово remote описывает роль другого репозитория; технически адрес может указывать и на локальный путь, что удобно для безопасной учебной демонстрации без сети.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https://docs.github.com/en/repositories/creating-and-managing-repositories/creating-a-new-repository
Если создать README одновременно на сайте и локально, возникнут две независимые начальные истории, которые потребуют отдельного согласования. Поэтому в лекции выбран один последовательный маршрут: сначала локальные коммиты, затем пустое удалённое хранилище. Альтернативный маршрут через clone рассматривается отдельно.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https://docs.github.com/en/get-started/git-basics/caching-your-github-credentials-in-git
Способ входа зависит от установленного клиента и настроек организации. Git Credential Manager или GitHub CLI могут организовать браузерную авторизацию; возможен также SSH. Здесь важно различать авторство локального коммита и полномочия сетевого запроса. Подробную настройку ключей не включаем в обязательную теорию первой работы с Git.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Что обозначают origin, main и -u? Что изменится на GitHub?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https://git-scm.com/docs/git-push
REPOSITORY_URL — обозначение для замены, а не буквальный адрес. После первой успешной отправки откройте репозиторий в браузере: должны появиться три файла проекта и три коммита. Изменения, которые только сохранены в редакторе или добавлены в индекс, push не превращает в коммит.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 по результату понять, что первая отправка прошла успешно?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https://git-scm.com/docs/git-push
REPOSITORY_URL — обозначение для замены, а не буквальный адрес. После первой успешной отправки откройте репозиторий в браузере: должны появиться три файла проекта и три коммита. Изменения, которые только сохранены в редакторе или добавлены в индекс, push не превращает в коммит.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https://git-scm.com/docs/git-push
REPOSITORY_URL — обозначение для замены, а не буквальный адрес. После первой успешной отправки откройте репозиторий в браузере: должны появиться три файла проекта и три коммита. Изменения, которые только сохранены в редакторе или добавлены в индекс, push не превращает в коммит.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Локально есть коммит C, на GitHub только A и B. Что изменит push?
Попросите студента сначала предсказать результат и объяснить ход мысли. Следующее нажатие открывает следующий шаг; автоматического таймера нет.
Предполагаются настроенный origin, авторизация и отсутствие расхождения истории. Первая отправка в курсе использует -u; здесь показана последующая. https://git-scm.com/docs/git-push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Предполагаются настроенный origin, авторизация и отсутствие расхождения истории. Первая отправка в курсе использует -u; здесь показана последующая. https://git-scm.com/docs/git-push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Что появится после clone: только файлы или также история? Нужен ли init?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https://git-scm.com/docs/git-clone
Это альтернативный способ начать работу, а не обязательное продолжение git init в той же папке. Обычное клонирование получает историю; специальные поверхностные копии в этой лекции не рассматриваются. Скачать ZIP недостаточно для учебного задания по истории: архив файлов не является клоном репозитория.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https://git-scm.com/docs/git-clone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Почему идентификаторы коммитов совпадают с исходным репозиторием?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https://git-scm.com/docs/git-clone
Это альтернативный способ начать работу, а не обязательное продолжение git init в той же папке. Обычное клонирование получает историю; специальные поверхностные копии в этой лекции не рассматриваются. Скачать ZIP недостаточно для учебного задания по истории: архив файлов не является клоном репозитория.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https://git-scm.com/docs/git-clone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https://git-scm.com/docs/git-clone
Это альтернативный способ начать работу, а не обязательное продолжение git init в той же папке. Обычное клонирование получает историю; специальные поверхностные копии в этой лекции не рассматриваются. Скачать ZIP недостаточно для учебного задания по истории: архив файлов не является клоном репозитория.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https://git-scm.com/docs/git-clone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На сервере нет новых коммитов. Какой результат ожидаем от pull?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https://git-scm.com/docs/git-pull
Например, второй участник дополнил README и отправил коммит, а вы со времени предыдущего обмена не создавали новых коммитов. Тогда обновление возможно простым продвижением ветки. Если обе стороны создали разные коммиты, --ff-only остановится. Это повод рассмотреть расхождение с преподавателем; команды принудительной отправки не нужны.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https://git-scm.com/docs/git-pull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Что означает Already up to date? Когда --ff-only остановится?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https://git-scm.com/docs/git-pull
Например, второй участник дополнил README и отправил коммит, а вы со времени предыдущего обмена не создавали новых коммитов. Тогда обновление возможно простым продвижением ветки. Если обе стороны создали разные коммиты, --ff-only остановится. Это повод рассмотреть расхождение с преподавателем; команды принудительной отправки не нужны.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https://git-scm.com/docs/git-pull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https://git-scm.com/docs/git-pull
Например, второй участник дополнил README и отправил коммит, а вы со времени предыдущего обмена не создавали новых коммитов. Тогда обновление возможно простым продвижением ветки. Если обе стороны создали разные коммиты, --ff-only остановится. Это повод рассмотреть расхождение с преподавателем; команды принудительной отправки не нужны.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https://git-scm.com/docs/git-pull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Если файл на GitHub старый, проверьте, в какой папке выполнены команды, сохранён ли файл, был ли он добавлен и создан ли новый коммит. Затем проверьте адрес origin и результат push. Не повторяйте случайные команды до определения пропущенного этапа.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Сообщение nothing to commit не всегда является ошибкой: возможно, проект действительно не изменился. Отказ push нельзя универсально исправить pull: сначала нужно прочитать, связано ли сообщение с историей, правами или аутентификацией. На первом занятии расхождения истории разбираются вместе с преподавателем.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Планы лекций ПМИ и ФИИТ
Оценивать следует не только количество коммитов, но и их смысл. Попросите студента назвать, что изменилось между первым и вторым коммитом, и объяснить, почему README выделен в следующий этап. При затруднениях с сетью локальная часть остаётся полноценным проверяемым результатом; публикацию завершают после настройки доступа.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Для первого вопроса ответ — рабочая область. Во втором случае фиксируется подготовленное состояние; последняя правка останется в рабочей области, если не повторить add. Коммит локален, поэтому интернет не требуется. Остальные ответы раскрыты на следующем слайде.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Главный результат лекции — способность объяснить каждую команду через изменение состояния проекта. Выученная последовательность без этой модели приводит к случайным действиям при первой ошибке. В дальнейшем к модели добавятся сравнение старых версий, восстановление файлов и параллельная работа в ветках.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Какая команда или действие пропущены в каждой из трёх ситуаций?
Попросите студента сначала предсказать результат и объяснить ход мысли. Следующее нажатие открывает следующий шаг; автоматического таймера нет.
Авторский комикс для повторения различий save, add, commit, push. Изображение создано встроенной генерацией. Технические подписи редактируются отдельно от иллюстрации.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Объясните следующую ситуацию, прежде чем открывать подсказку.
Попросите студента сначала предсказать результат и объяснить ход мысли. Следующее нажатие открывает следующий шаг; автоматического таймера нет.
Авторский комикс для повторения различий save, add, commit, push. Изображение создано встроенной генерацией. Технические подписи редактируются отдельно от иллюстрации.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Объясните следующую ситуацию, прежде чем открывать подсказку.
Попросите студента сначала предсказать результат и объяснить ход мысли. Следующее нажатие открывает следующий шаг; автоматического таймера нет.
Авторский комикс для повторения различий save, add, commit, push. Изображение создано встроенной генерацией. Технические подписи редактируются отдельно от иллюстрации.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Авторский комикс для повторения различий save, add, commit, push. Изображение создано встроенной генерацией. Технические подписи редактируются отдельно от иллюстрации.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image" Target="../media/image-7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image" Target="../media/image-7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1066800" y="309563"/>
            <a:ext cx="36671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33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ЮЖНЫЙ ФЕДЕРАЛЬНЫЙ</a:t>
            </a:r>
            <a:endParaRPr lang="en-US" sz="1033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1033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УНИВЕРСИТЕТ</a:t>
            </a:r>
            <a:endParaRPr lang="en-US" sz="1033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285750"/>
            <a:ext cx="457200" cy="428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1262063"/>
            <a:ext cx="409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117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ЛЕКЦИЯ 02 / ФИИТ</a:t>
            </a:r>
            <a:endParaRPr lang="en-US" sz="1176" dirty="0"/>
          </a:p>
        </p:txBody>
      </p:sp>
      <p:sp>
        <p:nvSpPr>
          <p:cNvPr id="8" name="Text 4"/>
          <p:cNvSpPr/>
          <p:nvPr/>
        </p:nvSpPr>
        <p:spPr>
          <a:xfrm>
            <a:off x="476250" y="1714500"/>
            <a:ext cx="45243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5"/>
              </a:lnSpc>
              <a:buNone/>
            </a:pPr>
            <a:r>
              <a:rPr lang="en-US" sz="334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Git и GitHub</a:t>
            </a:r>
            <a:endParaRPr lang="en-US" sz="3349" dirty="0"/>
          </a:p>
        </p:txBody>
      </p:sp>
      <p:sp>
        <p:nvSpPr>
          <p:cNvPr id="9" name="Text 5"/>
          <p:cNvSpPr/>
          <p:nvPr/>
        </p:nvSpPr>
        <p:spPr>
          <a:xfrm>
            <a:off x="476250" y="2976563"/>
            <a:ext cx="409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1888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Контроль версий</a:t>
            </a:r>
            <a:endParaRPr lang="en-US" sz="1888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888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учебных проектов</a:t>
            </a:r>
            <a:endParaRPr lang="en-US" sz="1888" dirty="0"/>
          </a:p>
        </p:txBody>
      </p:sp>
      <p:sp>
        <p:nvSpPr>
          <p:cNvPr id="10" name="Text 6"/>
          <p:cNvSpPr/>
          <p:nvPr/>
        </p:nvSpPr>
        <p:spPr>
          <a:xfrm>
            <a:off x="476250" y="3833812"/>
            <a:ext cx="4048125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 исходного файла до опубликованного проекта</a:t>
            </a:r>
            <a:endParaRPr lang="en-US" sz="1247" dirty="0"/>
          </a:p>
        </p:txBody>
      </p:sp>
      <p:sp>
        <p:nvSpPr>
          <p:cNvPr id="11" name="Shape 7"/>
          <p:cNvSpPr/>
          <p:nvPr/>
        </p:nvSpPr>
        <p:spPr>
          <a:xfrm>
            <a:off x="5238750" y="1333500"/>
            <a:ext cx="3286125" cy="25241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12" name="Text 8"/>
          <p:cNvSpPr/>
          <p:nvPr/>
        </p:nvSpPr>
        <p:spPr>
          <a:xfrm>
            <a:off x="5476875" y="1547813"/>
            <a:ext cx="27146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 ПРОЕКТА</a:t>
            </a:r>
            <a:endParaRPr lang="en-US" sz="998" dirty="0"/>
          </a:p>
        </p:txBody>
      </p:sp>
      <p:sp>
        <p:nvSpPr>
          <p:cNvPr id="13" name="Shape 9"/>
          <p:cNvSpPr/>
          <p:nvPr/>
        </p:nvSpPr>
        <p:spPr>
          <a:xfrm>
            <a:off x="5476875" y="1928813"/>
            <a:ext cx="276225" cy="276225"/>
          </a:xfrm>
          <a:prstGeom prst="ellipse">
            <a:avLst/>
          </a:prstGeom>
          <a:solidFill>
            <a:srgbClr val="0632AD"/>
          </a:solidFill>
          <a:ln/>
        </p:spPr>
      </p:sp>
      <p:sp>
        <p:nvSpPr>
          <p:cNvPr id="14" name="Text 10"/>
          <p:cNvSpPr/>
          <p:nvPr/>
        </p:nvSpPr>
        <p:spPr>
          <a:xfrm>
            <a:off x="5557838" y="1962150"/>
            <a:ext cx="17145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FFFFFF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</a:t>
            </a:r>
            <a:endParaRPr lang="en-US" sz="1069" dirty="0"/>
          </a:p>
        </p:txBody>
      </p:sp>
      <p:sp>
        <p:nvSpPr>
          <p:cNvPr id="15" name="Text 11"/>
          <p:cNvSpPr/>
          <p:nvPr/>
        </p:nvSpPr>
        <p:spPr>
          <a:xfrm>
            <a:off x="5905500" y="1957388"/>
            <a:ext cx="2357438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Исходный расчёт</a:t>
            </a:r>
            <a:endParaRPr lang="en-US" sz="1247" dirty="0"/>
          </a:p>
        </p:txBody>
      </p:sp>
      <p:sp>
        <p:nvSpPr>
          <p:cNvPr id="16" name="Shape 12"/>
          <p:cNvSpPr/>
          <p:nvPr/>
        </p:nvSpPr>
        <p:spPr>
          <a:xfrm>
            <a:off x="5595938" y="2224088"/>
            <a:ext cx="33338" cy="242888"/>
          </a:xfrm>
          <a:prstGeom prst="rect">
            <a:avLst/>
          </a:prstGeom>
          <a:solidFill>
            <a:srgbClr val="6855B8"/>
          </a:solidFill>
          <a:ln/>
        </p:spPr>
      </p:sp>
      <p:sp>
        <p:nvSpPr>
          <p:cNvPr id="17" name="Shape 13"/>
          <p:cNvSpPr/>
          <p:nvPr/>
        </p:nvSpPr>
        <p:spPr>
          <a:xfrm>
            <a:off x="5476875" y="2500313"/>
            <a:ext cx="276225" cy="276225"/>
          </a:xfrm>
          <a:prstGeom prst="ellipse">
            <a:avLst/>
          </a:prstGeom>
          <a:solidFill>
            <a:srgbClr val="0632AD"/>
          </a:solidFill>
          <a:ln/>
        </p:spPr>
      </p:sp>
      <p:sp>
        <p:nvSpPr>
          <p:cNvPr id="18" name="Text 14"/>
          <p:cNvSpPr/>
          <p:nvPr/>
        </p:nvSpPr>
        <p:spPr>
          <a:xfrm>
            <a:off x="5557838" y="2533650"/>
            <a:ext cx="17145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FFFFFF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</a:t>
            </a:r>
            <a:endParaRPr lang="en-US" sz="1069" dirty="0"/>
          </a:p>
        </p:txBody>
      </p:sp>
      <p:sp>
        <p:nvSpPr>
          <p:cNvPr id="19" name="Text 15"/>
          <p:cNvSpPr/>
          <p:nvPr/>
        </p:nvSpPr>
        <p:spPr>
          <a:xfrm>
            <a:off x="5905500" y="2528888"/>
            <a:ext cx="2357438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Ввод пользователя</a:t>
            </a:r>
            <a:endParaRPr lang="en-US" sz="1247" dirty="0"/>
          </a:p>
        </p:txBody>
      </p:sp>
      <p:sp>
        <p:nvSpPr>
          <p:cNvPr id="20" name="Shape 16"/>
          <p:cNvSpPr/>
          <p:nvPr/>
        </p:nvSpPr>
        <p:spPr>
          <a:xfrm>
            <a:off x="5595938" y="2795588"/>
            <a:ext cx="33338" cy="242888"/>
          </a:xfrm>
          <a:prstGeom prst="rect">
            <a:avLst/>
          </a:prstGeom>
          <a:solidFill>
            <a:srgbClr val="6855B8"/>
          </a:solidFill>
          <a:ln/>
        </p:spPr>
      </p:sp>
      <p:sp>
        <p:nvSpPr>
          <p:cNvPr id="21" name="Shape 17"/>
          <p:cNvSpPr/>
          <p:nvPr/>
        </p:nvSpPr>
        <p:spPr>
          <a:xfrm>
            <a:off x="5476875" y="3071813"/>
            <a:ext cx="276225" cy="276225"/>
          </a:xfrm>
          <a:prstGeom prst="ellipse">
            <a:avLst/>
          </a:prstGeom>
          <a:solidFill>
            <a:srgbClr val="0632AD"/>
          </a:solidFill>
          <a:ln/>
        </p:spPr>
      </p:sp>
      <p:sp>
        <p:nvSpPr>
          <p:cNvPr id="22" name="Text 18"/>
          <p:cNvSpPr/>
          <p:nvPr/>
        </p:nvSpPr>
        <p:spPr>
          <a:xfrm>
            <a:off x="5557838" y="3105150"/>
            <a:ext cx="17145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FFFFFF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</a:t>
            </a:r>
            <a:endParaRPr lang="en-US" sz="1069" dirty="0"/>
          </a:p>
        </p:txBody>
      </p:sp>
      <p:sp>
        <p:nvSpPr>
          <p:cNvPr id="23" name="Text 19"/>
          <p:cNvSpPr/>
          <p:nvPr/>
        </p:nvSpPr>
        <p:spPr>
          <a:xfrm>
            <a:off x="5905500" y="3100388"/>
            <a:ext cx="2357438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Описание запуска</a:t>
            </a:r>
            <a:endParaRPr lang="en-US" sz="1247" dirty="0"/>
          </a:p>
        </p:txBody>
      </p:sp>
      <p:sp>
        <p:nvSpPr>
          <p:cNvPr id="24" name="Text 20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Планы лекций ПМИ и ФИИТ</a:t>
            </a:r>
            <a:endParaRPr lang="en-US" sz="748" dirty="0"/>
          </a:p>
        </p:txBody>
      </p:sp>
      <p:sp>
        <p:nvSpPr>
          <p:cNvPr id="25" name="Text 21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41</a:t>
            </a:r>
            <a:endParaRPr lang="en-US" sz="89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DEF3F7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КОНТРОЛЬ ВЕРСИЙ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Результат изучения темы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После лекции вы сможете объяснить состояние проекта и самостоятельно сохранить его историю.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8382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Разберём локальную модель Git, последовательность status → add → commit, просмотр истории и обмен с GitHub. Все команды будут связаны с конкретными изменениями программы.</a:t>
            </a:r>
            <a:endParaRPr lang="en-US" sz="1283" dirty="0"/>
          </a:p>
        </p:txBody>
      </p:sp>
      <p:sp>
        <p:nvSpPr>
          <p:cNvPr id="11" name="Shape 8"/>
          <p:cNvSpPr/>
          <p:nvPr/>
        </p:nvSpPr>
        <p:spPr>
          <a:xfrm>
            <a:off x="5619750" y="1743075"/>
            <a:ext cx="3048000" cy="1414463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2" name="Text 9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3" name="Text 10"/>
          <p:cNvSpPr/>
          <p:nvPr/>
        </p:nvSpPr>
        <p:spPr>
          <a:xfrm>
            <a:off x="5762625" y="2119313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Основная последовательность: создать проект → зафиксировать версии → отправить их на GitHub.</a:t>
            </a:r>
            <a:endParaRPr lang="en-US" sz="1247" dirty="0"/>
          </a:p>
        </p:txBody>
      </p:sp>
      <p:sp>
        <p:nvSpPr>
          <p:cNvPr id="14" name="Text 11"/>
          <p:cNvSpPr/>
          <p:nvPr/>
        </p:nvSpPr>
        <p:spPr>
          <a:xfrm>
            <a:off x="5762625" y="2809875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Практика по плану: две пары.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Планы лекций ПМИ и ФИИТ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41</a:t>
            </a:r>
            <a:endParaRPr lang="en-US" sz="89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КОНТРОЛЬ ВЕРСИЙ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Зачем нужен контроль версий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Система контроля версий сохраняет выбранные состояния проекта и сведения об их происхождении.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1811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процессе работы меняются формулы, входные данные и способ вывода. По одному текущему файлу нельзя надёжно восстановить, что изменилось и почему.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 версий позволяет связать результат с конкретным состоянием исходного кода.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490663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1: числа заданы в коде.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400300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2: числа вводит пользователь.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268128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3: добавлена инструкция запуска.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 Git · модель версий</a:t>
            </a:r>
            <a:endParaRPr lang="en-US" sz="748" dirty="0"/>
          </a:p>
        </p:txBody>
      </p:sp>
      <p:sp>
        <p:nvSpPr>
          <p:cNvPr id="18" name="Text 15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41</a:t>
            </a:r>
            <a:endParaRPr lang="en-US" sz="89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КОНТРОЛЬ ВЕРСИЙ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Краткая история Git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возник в 2005 году при разработке ядра Linux.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390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Линус Торвальдс создал Git для распределённой работы над большим проектом. Существенными требованиями были скорость, поддержка параллельной разработки и возможность работать локально.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71462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Распределённость означает, что история может находиться в нескольких репозиториях.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414463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Локальный коммит не требует подключения к GitHub.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60508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Сетевое соединение нужно для обмена с удалённым сервером.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 Git · история Git</a:t>
            </a:r>
            <a:endParaRPr lang="en-US" sz="748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41</a:t>
            </a:r>
            <a:endParaRPr lang="en-US" sz="89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DEF3F7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КОНТРОЛЬ ВЕРСИЙ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Git и GitHub: разные роли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управляет версиями; GitHub предоставляет размещение репозиториев и средства совместной работы.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Локальный репозиторий может существовать независимо от GitHub. Удалённый репозиторий становится ещё одним участником обмена версиями.</a:t>
            </a:r>
            <a:endParaRPr lang="en-US" sz="1211" dirty="0"/>
          </a:p>
        </p:txBody>
      </p:sp>
      <p:sp>
        <p:nvSpPr>
          <p:cNvPr id="10" name="Shape 7"/>
          <p:cNvSpPr/>
          <p:nvPr/>
        </p:nvSpPr>
        <p:spPr>
          <a:xfrm>
            <a:off x="476250" y="2257425"/>
            <a:ext cx="8191500" cy="1685925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257425"/>
            <a:ext cx="8191500" cy="561975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2860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2876550" y="22860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Программа на компьютере: add, commit, log и другие команды.</a:t>
            </a:r>
            <a:endParaRPr lang="en-US" sz="1069" dirty="0"/>
          </a:p>
        </p:txBody>
      </p:sp>
      <p:sp>
        <p:nvSpPr>
          <p:cNvPr id="14" name="Shape 11"/>
          <p:cNvSpPr/>
          <p:nvPr/>
        </p:nvSpPr>
        <p:spPr>
          <a:xfrm>
            <a:off x="476250" y="2819400"/>
            <a:ext cx="8191500" cy="561975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847975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2876550" y="2847975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Сервис: размещение репозитория, доступ участников, обсуждение изменений.</a:t>
            </a:r>
            <a:endParaRPr lang="en-US" sz="1069" dirty="0"/>
          </a:p>
        </p:txBody>
      </p:sp>
      <p:sp>
        <p:nvSpPr>
          <p:cNvPr id="17" name="Shape 14"/>
          <p:cNvSpPr/>
          <p:nvPr/>
        </p:nvSpPr>
        <p:spPr>
          <a:xfrm>
            <a:off x="476250" y="3381375"/>
            <a:ext cx="8191500" cy="561975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340995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Учётная запись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2876550" y="340995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Нужна для работы с личными ресурсами GitHub; не нужна для локального commit.</a:t>
            </a:r>
            <a:endParaRPr lang="en-US" sz="1069" dirty="0"/>
          </a:p>
        </p:txBody>
      </p:sp>
      <p:sp>
        <p:nvSpPr>
          <p:cNvPr id="20" name="Text 17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 · удалённые репозитории</a:t>
            </a:r>
            <a:endParaRPr lang="en-US" sz="748" dirty="0"/>
          </a:p>
        </p:txBody>
      </p:sp>
      <p:sp>
        <p:nvSpPr>
          <p:cNvPr id="21" name="Text 18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41</a:t>
            </a:r>
            <a:endParaRPr lang="en-US" sz="89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КОНТРОЛЬ ВЕРСИЙ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является репозиторием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Репозиторий хранит историю проекта, объекты Git и ссылки на версии.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1811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обычном локальном проекте служебные данные Git находятся в каталоге .git. Рядом расположены рабочие файлы, которые открывают в редакторе.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Папка с main.py сама по себе ещё не означает, что история Git создана.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69545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Рабочие файлы: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main.py, README.md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60508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Служебные данные: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.git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090863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.git создаёт и обслуживает Git.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init</a:t>
            </a:r>
            <a:endParaRPr lang="en-US" sz="748" dirty="0"/>
          </a:p>
        </p:txBody>
      </p:sp>
      <p:sp>
        <p:nvSpPr>
          <p:cNvPr id="18" name="Text 15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41</a:t>
            </a:r>
            <a:endParaRPr lang="en-US" sz="89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КОНТРОЛЬ ВЕРСИЙ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Рабочая область, индекс, история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Индекс задаёт содержимое следующего коммита.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Перед фиксацией разработчик выбирает, какие сохранённые изменения включить в новую версию. Три области могут содержать разные состояния одного файла.</a:t>
            </a:r>
            <a:endParaRPr lang="en-US" sz="1211" dirty="0"/>
          </a:p>
        </p:txBody>
      </p:sp>
      <p:sp>
        <p:nvSpPr>
          <p:cNvPr id="10" name="Shape 7"/>
          <p:cNvSpPr/>
          <p:nvPr/>
        </p:nvSpPr>
        <p:spPr>
          <a:xfrm>
            <a:off x="476250" y="2257425"/>
            <a:ext cx="8191500" cy="1685925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257425"/>
            <a:ext cx="8191500" cy="561975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2860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Рабочая область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2876550" y="22860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Текущие файлы на диске; изменения появляются после сохранения в редакторе.</a:t>
            </a:r>
            <a:endParaRPr lang="en-US" sz="1069" dirty="0"/>
          </a:p>
        </p:txBody>
      </p:sp>
      <p:sp>
        <p:nvSpPr>
          <p:cNvPr id="14" name="Shape 11"/>
          <p:cNvSpPr/>
          <p:nvPr/>
        </p:nvSpPr>
        <p:spPr>
          <a:xfrm>
            <a:off x="476250" y="2819400"/>
            <a:ext cx="8191500" cy="561975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847975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Индекс (staging area)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2876550" y="2847975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Подготовленное состояние файлов; обновляется командой git add.</a:t>
            </a:r>
            <a:endParaRPr lang="en-US" sz="1069" dirty="0"/>
          </a:p>
        </p:txBody>
      </p:sp>
      <p:sp>
        <p:nvSpPr>
          <p:cNvPr id="17" name="Shape 14"/>
          <p:cNvSpPr/>
          <p:nvPr/>
        </p:nvSpPr>
        <p:spPr>
          <a:xfrm>
            <a:off x="476250" y="3381375"/>
            <a:ext cx="8191500" cy="561975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340995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2876550" y="340995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Зафиксированные снимки проекта; новый коммит создаётся из индекса.</a:t>
            </a:r>
            <a:endParaRPr lang="en-US" sz="1069" dirty="0"/>
          </a:p>
        </p:txBody>
      </p:sp>
      <p:sp>
        <p:nvSpPr>
          <p:cNvPr id="20" name="Text 17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 Git · модель версий</a:t>
            </a:r>
            <a:endParaRPr lang="en-US" sz="748" dirty="0"/>
          </a:p>
        </p:txBody>
      </p:sp>
      <p:sp>
        <p:nvSpPr>
          <p:cNvPr id="21" name="Text 18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41</a:t>
            </a:r>
            <a:endParaRPr lang="en-US" sz="89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Куда попадают изменения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Файл сохранён. Какие действия нужны, чтобы новая версия появилась на GitHub?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add, commit, push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41</a:t>
            </a:r>
            <a:endParaRPr lang="en-US" sz="891" dirty="0"/>
          </a:p>
        </p:txBody>
      </p:sp>
      <p:sp>
        <p:nvSpPr>
          <p:cNvPr id="9" name="Shape 6"/>
          <p:cNvSpPr/>
          <p:nvPr/>
        </p:nvSpPr>
        <p:spPr>
          <a:xfrm>
            <a:off x="476250" y="1738313"/>
            <a:ext cx="2238375" cy="1376363"/>
          </a:xfrm>
          <a:prstGeom prst="roundRect">
            <a:avLst>
              <a:gd name="adj" fmla="val 11958"/>
            </a:avLst>
          </a:prstGeom>
          <a:solidFill>
            <a:srgbClr val="FFE0D1"/>
          </a:solidFill>
          <a:ln/>
        </p:spPr>
      </p:sp>
      <p:sp>
        <p:nvSpPr>
          <p:cNvPr id="10" name="Text 7"/>
          <p:cNvSpPr/>
          <p:nvPr/>
        </p:nvSpPr>
        <p:spPr>
          <a:xfrm>
            <a:off x="609600" y="1871663"/>
            <a:ext cx="19716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01 / РАБОЧАЯ ПАПКА</a:t>
            </a:r>
            <a:endParaRPr lang="en-US" sz="926" dirty="0"/>
          </a:p>
        </p:txBody>
      </p:sp>
      <p:sp>
        <p:nvSpPr>
          <p:cNvPr id="11" name="Text 8"/>
          <p:cNvSpPr/>
          <p:nvPr/>
        </p:nvSpPr>
        <p:spPr>
          <a:xfrm>
            <a:off x="609600" y="21145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main.py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609600" y="2438400"/>
            <a:ext cx="19716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Сохранённый код, который вы редактируете и запускаете.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2786063" y="2190750"/>
            <a:ext cx="952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→</a:t>
            </a:r>
            <a:endParaRPr lang="en-US" sz="998" dirty="0"/>
          </a:p>
        </p:txBody>
      </p:sp>
      <p:sp>
        <p:nvSpPr>
          <p:cNvPr id="14" name="Shape 11"/>
          <p:cNvSpPr/>
          <p:nvPr/>
        </p:nvSpPr>
        <p:spPr>
          <a:xfrm>
            <a:off x="3738563" y="1738313"/>
            <a:ext cx="2238375" cy="1357313"/>
          </a:xfrm>
          <a:prstGeom prst="roundRect">
            <a:avLst>
              <a:gd name="adj" fmla="val 12126"/>
            </a:avLst>
          </a:prstGeom>
          <a:solidFill>
            <a:srgbClr val="E4DFFA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871913" y="1871663"/>
            <a:ext cx="19716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02 / ИНДЕКС</a:t>
            </a:r>
            <a:endParaRPr lang="en-US" sz="926" dirty="0"/>
          </a:p>
        </p:txBody>
      </p:sp>
      <p:sp>
        <p:nvSpPr>
          <p:cNvPr id="16" name="Text 13"/>
          <p:cNvSpPr/>
          <p:nvPr/>
        </p:nvSpPr>
        <p:spPr>
          <a:xfrm>
            <a:off x="3871913" y="2114550"/>
            <a:ext cx="19716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Выбранный снимок</a:t>
            </a:r>
            <a:endParaRPr lang="en-US" sz="1318" dirty="0"/>
          </a:p>
        </p:txBody>
      </p:sp>
      <p:sp>
        <p:nvSpPr>
          <p:cNvPr id="17" name="Text 14"/>
          <p:cNvSpPr/>
          <p:nvPr/>
        </p:nvSpPr>
        <p:spPr>
          <a:xfrm>
            <a:off x="3871913" y="2419350"/>
            <a:ext cx="19716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Содержимое, подготовленное для следующего коммита.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6048375" y="2190750"/>
            <a:ext cx="8810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commit →</a:t>
            </a:r>
            <a:endParaRPr lang="en-US" sz="998" dirty="0"/>
          </a:p>
        </p:txBody>
      </p:sp>
      <p:sp>
        <p:nvSpPr>
          <p:cNvPr id="19" name="Shape 16"/>
          <p:cNvSpPr/>
          <p:nvPr/>
        </p:nvSpPr>
        <p:spPr>
          <a:xfrm>
            <a:off x="6929438" y="1738313"/>
            <a:ext cx="1738313" cy="1195388"/>
          </a:xfrm>
          <a:prstGeom prst="roundRect">
            <a:avLst>
              <a:gd name="adj" fmla="val 13769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062788" y="1871663"/>
            <a:ext cx="1471613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03 / ИСТОРИЯ</a:t>
            </a:r>
            <a:endParaRPr lang="en-US" sz="926" dirty="0"/>
          </a:p>
        </p:txBody>
      </p:sp>
      <p:sp>
        <p:nvSpPr>
          <p:cNvPr id="21" name="Text 18"/>
          <p:cNvSpPr/>
          <p:nvPr/>
        </p:nvSpPr>
        <p:spPr>
          <a:xfrm>
            <a:off x="7062788" y="2114550"/>
            <a:ext cx="14716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Коммит</a:t>
            </a:r>
            <a:endParaRPr lang="en-US" sz="1425" dirty="0"/>
          </a:p>
        </p:txBody>
      </p:sp>
      <p:sp>
        <p:nvSpPr>
          <p:cNvPr id="22" name="Text 19"/>
          <p:cNvSpPr/>
          <p:nvPr/>
        </p:nvSpPr>
        <p:spPr>
          <a:xfrm>
            <a:off x="7062788" y="2438400"/>
            <a:ext cx="147161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проекта в локальном Git.</a:t>
            </a:r>
            <a:endParaRPr lang="en-US" sz="1140" dirty="0"/>
          </a:p>
        </p:txBody>
      </p:sp>
      <p:sp>
        <p:nvSpPr>
          <p:cNvPr id="23" name="Shape 20"/>
          <p:cNvSpPr/>
          <p:nvPr/>
        </p:nvSpPr>
        <p:spPr>
          <a:xfrm>
            <a:off x="476250" y="3381375"/>
            <a:ext cx="4953000" cy="895350"/>
          </a:xfrm>
          <a:prstGeom prst="roundRect">
            <a:avLst>
              <a:gd name="adj" fmla="val 18383"/>
            </a:avLst>
          </a:prstGeom>
          <a:noFill/>
          <a:ln/>
        </p:spPr>
      </p:sp>
      <p:sp>
        <p:nvSpPr>
          <p:cNvPr id="24" name="Text 21"/>
          <p:cNvSpPr/>
          <p:nvPr/>
        </p:nvSpPr>
        <p:spPr>
          <a:xfrm>
            <a:off x="476250" y="3381375"/>
            <a:ext cx="4953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Сохранение в редакторе меняет рабочий файл. add выбирает содержимое. commit создаёт версию.</a:t>
            </a:r>
            <a:endParaRPr lang="en-US" sz="1211" dirty="0"/>
          </a:p>
        </p:txBody>
      </p:sp>
      <p:sp>
        <p:nvSpPr>
          <p:cNvPr id="25" name="Text 22"/>
          <p:cNvSpPr/>
          <p:nvPr/>
        </p:nvSpPr>
        <p:spPr>
          <a:xfrm>
            <a:off x="476250" y="3886200"/>
            <a:ext cx="4953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 получает локальные коммиты только после успешной отправки.</a:t>
            </a:r>
            <a:endParaRPr lang="en-US" sz="1211" dirty="0"/>
          </a:p>
        </p:txBody>
      </p:sp>
      <p:sp>
        <p:nvSpPr>
          <p:cNvPr id="26" name="Text 23"/>
          <p:cNvSpPr/>
          <p:nvPr/>
        </p:nvSpPr>
        <p:spPr>
          <a:xfrm>
            <a:off x="6929438" y="3238500"/>
            <a:ext cx="17383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push ↓</a:t>
            </a:r>
            <a:endParaRPr lang="en-US" sz="1069" dirty="0"/>
          </a:p>
        </p:txBody>
      </p:sp>
      <p:sp>
        <p:nvSpPr>
          <p:cNvPr id="27" name="Shape 24"/>
          <p:cNvSpPr/>
          <p:nvPr/>
        </p:nvSpPr>
        <p:spPr>
          <a:xfrm>
            <a:off x="6191250" y="3595688"/>
            <a:ext cx="2476500" cy="714375"/>
          </a:xfrm>
          <a:prstGeom prst="roundRect">
            <a:avLst>
              <a:gd name="adj" fmla="val 23040"/>
            </a:avLst>
          </a:prstGeom>
          <a:solidFill>
            <a:srgbClr val="E4DFFA">
              <a:alpha val="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324600" y="3729038"/>
            <a:ext cx="220980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04 / GITHUB</a:t>
            </a:r>
            <a:endParaRPr lang="en-US" sz="926" dirty="0"/>
          </a:p>
        </p:txBody>
      </p:sp>
      <p:sp>
        <p:nvSpPr>
          <p:cNvPr id="29" name="Text 26"/>
          <p:cNvSpPr/>
          <p:nvPr/>
        </p:nvSpPr>
        <p:spPr>
          <a:xfrm>
            <a:off x="6324600" y="3971925"/>
            <a:ext cx="220980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Удалённый репозиторий</a:t>
            </a:r>
            <a:endParaRPr lang="en-US" sz="128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Куда попадают изменения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Снимок уже в индексе. Что ещё нужно сделать для истории и публикации?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add, commit, push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41</a:t>
            </a:r>
            <a:endParaRPr lang="en-US" sz="891" dirty="0"/>
          </a:p>
        </p:txBody>
      </p:sp>
      <p:sp>
        <p:nvSpPr>
          <p:cNvPr id="9" name="Shape 6"/>
          <p:cNvSpPr/>
          <p:nvPr/>
        </p:nvSpPr>
        <p:spPr>
          <a:xfrm>
            <a:off x="476250" y="1738313"/>
            <a:ext cx="2238375" cy="1376363"/>
          </a:xfrm>
          <a:prstGeom prst="roundRect">
            <a:avLst>
              <a:gd name="adj" fmla="val 11958"/>
            </a:avLst>
          </a:prstGeom>
          <a:solidFill>
            <a:srgbClr val="FFE0D1"/>
          </a:solidFill>
          <a:ln/>
        </p:spPr>
      </p:sp>
      <p:sp>
        <p:nvSpPr>
          <p:cNvPr id="10" name="Text 7"/>
          <p:cNvSpPr/>
          <p:nvPr/>
        </p:nvSpPr>
        <p:spPr>
          <a:xfrm>
            <a:off x="609600" y="1871663"/>
            <a:ext cx="19716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01 / РАБОЧАЯ ПАПКА</a:t>
            </a:r>
            <a:endParaRPr lang="en-US" sz="926" dirty="0"/>
          </a:p>
        </p:txBody>
      </p:sp>
      <p:sp>
        <p:nvSpPr>
          <p:cNvPr id="11" name="Text 8"/>
          <p:cNvSpPr/>
          <p:nvPr/>
        </p:nvSpPr>
        <p:spPr>
          <a:xfrm>
            <a:off x="609600" y="21145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main.py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609600" y="2438400"/>
            <a:ext cx="19716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Сохранённый код, который вы редактируете и запускаете.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2786063" y="2190750"/>
            <a:ext cx="952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→</a:t>
            </a:r>
            <a:endParaRPr lang="en-US" sz="998" dirty="0"/>
          </a:p>
        </p:txBody>
      </p:sp>
      <p:sp>
        <p:nvSpPr>
          <p:cNvPr id="14" name="Shape 11"/>
          <p:cNvSpPr/>
          <p:nvPr/>
        </p:nvSpPr>
        <p:spPr>
          <a:xfrm>
            <a:off x="3738563" y="1738313"/>
            <a:ext cx="2238375" cy="1357313"/>
          </a:xfrm>
          <a:prstGeom prst="roundRect">
            <a:avLst>
              <a:gd name="adj" fmla="val 12126"/>
            </a:avLst>
          </a:prstGeom>
          <a:solidFill>
            <a:srgbClr val="E4DFFA"/>
          </a:solidFill>
          <a:ln/>
        </p:spPr>
      </p:sp>
      <p:sp>
        <p:nvSpPr>
          <p:cNvPr id="15" name="Text 12"/>
          <p:cNvSpPr/>
          <p:nvPr/>
        </p:nvSpPr>
        <p:spPr>
          <a:xfrm>
            <a:off x="3871913" y="1871663"/>
            <a:ext cx="19716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02 / ИНДЕКС</a:t>
            </a:r>
            <a:endParaRPr lang="en-US" sz="926" dirty="0"/>
          </a:p>
        </p:txBody>
      </p:sp>
      <p:sp>
        <p:nvSpPr>
          <p:cNvPr id="16" name="Text 13"/>
          <p:cNvSpPr/>
          <p:nvPr/>
        </p:nvSpPr>
        <p:spPr>
          <a:xfrm>
            <a:off x="3871913" y="2114550"/>
            <a:ext cx="19716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Выбранный снимок</a:t>
            </a:r>
            <a:endParaRPr lang="en-US" sz="1318" dirty="0"/>
          </a:p>
        </p:txBody>
      </p:sp>
      <p:sp>
        <p:nvSpPr>
          <p:cNvPr id="17" name="Text 14"/>
          <p:cNvSpPr/>
          <p:nvPr/>
        </p:nvSpPr>
        <p:spPr>
          <a:xfrm>
            <a:off x="3871913" y="2419350"/>
            <a:ext cx="19716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Содержимое, подготовленное для следующего коммита.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6048375" y="2190750"/>
            <a:ext cx="8810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commit →</a:t>
            </a:r>
            <a:endParaRPr lang="en-US" sz="998" dirty="0"/>
          </a:p>
        </p:txBody>
      </p:sp>
      <p:sp>
        <p:nvSpPr>
          <p:cNvPr id="19" name="Shape 16"/>
          <p:cNvSpPr/>
          <p:nvPr/>
        </p:nvSpPr>
        <p:spPr>
          <a:xfrm>
            <a:off x="6929438" y="1738313"/>
            <a:ext cx="1738313" cy="1195388"/>
          </a:xfrm>
          <a:prstGeom prst="roundRect">
            <a:avLst>
              <a:gd name="adj" fmla="val 13769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062788" y="1871663"/>
            <a:ext cx="1471613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03 / ИСТОРИЯ</a:t>
            </a:r>
            <a:endParaRPr lang="en-US" sz="926" dirty="0"/>
          </a:p>
        </p:txBody>
      </p:sp>
      <p:sp>
        <p:nvSpPr>
          <p:cNvPr id="21" name="Text 18"/>
          <p:cNvSpPr/>
          <p:nvPr/>
        </p:nvSpPr>
        <p:spPr>
          <a:xfrm>
            <a:off x="7062788" y="2114550"/>
            <a:ext cx="14716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Коммит</a:t>
            </a:r>
            <a:endParaRPr lang="en-US" sz="1425" dirty="0"/>
          </a:p>
        </p:txBody>
      </p:sp>
      <p:sp>
        <p:nvSpPr>
          <p:cNvPr id="22" name="Text 19"/>
          <p:cNvSpPr/>
          <p:nvPr/>
        </p:nvSpPr>
        <p:spPr>
          <a:xfrm>
            <a:off x="7062788" y="2438400"/>
            <a:ext cx="147161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проекта в локальном Git.</a:t>
            </a:r>
            <a:endParaRPr lang="en-US" sz="1140" dirty="0"/>
          </a:p>
        </p:txBody>
      </p:sp>
      <p:sp>
        <p:nvSpPr>
          <p:cNvPr id="23" name="Shape 20"/>
          <p:cNvSpPr/>
          <p:nvPr/>
        </p:nvSpPr>
        <p:spPr>
          <a:xfrm>
            <a:off x="476250" y="3381375"/>
            <a:ext cx="4953000" cy="895350"/>
          </a:xfrm>
          <a:prstGeom prst="roundRect">
            <a:avLst>
              <a:gd name="adj" fmla="val 18383"/>
            </a:avLst>
          </a:prstGeom>
          <a:noFill/>
          <a:ln/>
        </p:spPr>
      </p:sp>
      <p:sp>
        <p:nvSpPr>
          <p:cNvPr id="24" name="Text 21"/>
          <p:cNvSpPr/>
          <p:nvPr/>
        </p:nvSpPr>
        <p:spPr>
          <a:xfrm>
            <a:off x="476250" y="3381375"/>
            <a:ext cx="4953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Сохранение в редакторе меняет рабочий файл. add выбирает содержимое. commit создаёт версию.</a:t>
            </a:r>
            <a:endParaRPr lang="en-US" sz="1211" dirty="0"/>
          </a:p>
        </p:txBody>
      </p:sp>
      <p:sp>
        <p:nvSpPr>
          <p:cNvPr id="25" name="Text 22"/>
          <p:cNvSpPr/>
          <p:nvPr/>
        </p:nvSpPr>
        <p:spPr>
          <a:xfrm>
            <a:off x="476250" y="3886200"/>
            <a:ext cx="4953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 получает локальные коммиты только после успешной отправки.</a:t>
            </a:r>
            <a:endParaRPr lang="en-US" sz="1211" dirty="0"/>
          </a:p>
        </p:txBody>
      </p:sp>
      <p:sp>
        <p:nvSpPr>
          <p:cNvPr id="26" name="Text 23"/>
          <p:cNvSpPr/>
          <p:nvPr/>
        </p:nvSpPr>
        <p:spPr>
          <a:xfrm>
            <a:off x="6929438" y="3238500"/>
            <a:ext cx="17383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push ↓</a:t>
            </a:r>
            <a:endParaRPr lang="en-US" sz="1069" dirty="0"/>
          </a:p>
        </p:txBody>
      </p:sp>
      <p:sp>
        <p:nvSpPr>
          <p:cNvPr id="27" name="Shape 24"/>
          <p:cNvSpPr/>
          <p:nvPr/>
        </p:nvSpPr>
        <p:spPr>
          <a:xfrm>
            <a:off x="6191250" y="3595688"/>
            <a:ext cx="2476500" cy="714375"/>
          </a:xfrm>
          <a:prstGeom prst="roundRect">
            <a:avLst>
              <a:gd name="adj" fmla="val 23040"/>
            </a:avLst>
          </a:prstGeom>
          <a:solidFill>
            <a:srgbClr val="E4DFFA">
              <a:alpha val="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324600" y="3729038"/>
            <a:ext cx="220980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04 / GITHUB</a:t>
            </a:r>
            <a:endParaRPr lang="en-US" sz="926" dirty="0"/>
          </a:p>
        </p:txBody>
      </p:sp>
      <p:sp>
        <p:nvSpPr>
          <p:cNvPr id="29" name="Text 26"/>
          <p:cNvSpPr/>
          <p:nvPr/>
        </p:nvSpPr>
        <p:spPr>
          <a:xfrm>
            <a:off x="6324600" y="3971925"/>
            <a:ext cx="220980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Удалённый репозиторий</a:t>
            </a:r>
            <a:endParaRPr lang="en-US" sz="128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Куда попадают изменения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Четыре места хранения — четыре разных состояния одного проекта.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add, commit, push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41</a:t>
            </a:r>
            <a:endParaRPr lang="en-US" sz="891" dirty="0"/>
          </a:p>
        </p:txBody>
      </p:sp>
      <p:sp>
        <p:nvSpPr>
          <p:cNvPr id="9" name="Shape 6"/>
          <p:cNvSpPr/>
          <p:nvPr/>
        </p:nvSpPr>
        <p:spPr>
          <a:xfrm>
            <a:off x="476250" y="1738313"/>
            <a:ext cx="2238375" cy="1376363"/>
          </a:xfrm>
          <a:prstGeom prst="roundRect">
            <a:avLst>
              <a:gd name="adj" fmla="val 11958"/>
            </a:avLst>
          </a:prstGeom>
          <a:solidFill>
            <a:srgbClr val="FFE0D1"/>
          </a:solidFill>
          <a:ln/>
        </p:spPr>
      </p:sp>
      <p:sp>
        <p:nvSpPr>
          <p:cNvPr id="10" name="Text 7"/>
          <p:cNvSpPr/>
          <p:nvPr/>
        </p:nvSpPr>
        <p:spPr>
          <a:xfrm>
            <a:off x="609600" y="1871663"/>
            <a:ext cx="19716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01 / РАБОЧАЯ ПАПКА</a:t>
            </a:r>
            <a:endParaRPr lang="en-US" sz="926" dirty="0"/>
          </a:p>
        </p:txBody>
      </p:sp>
      <p:sp>
        <p:nvSpPr>
          <p:cNvPr id="11" name="Text 8"/>
          <p:cNvSpPr/>
          <p:nvPr/>
        </p:nvSpPr>
        <p:spPr>
          <a:xfrm>
            <a:off x="609600" y="21145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main.py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609600" y="2438400"/>
            <a:ext cx="19716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Сохранённый код, который вы редактируете и запускаете.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2786063" y="2190750"/>
            <a:ext cx="952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→</a:t>
            </a:r>
            <a:endParaRPr lang="en-US" sz="998" dirty="0"/>
          </a:p>
        </p:txBody>
      </p:sp>
      <p:sp>
        <p:nvSpPr>
          <p:cNvPr id="14" name="Shape 11"/>
          <p:cNvSpPr/>
          <p:nvPr/>
        </p:nvSpPr>
        <p:spPr>
          <a:xfrm>
            <a:off x="3738563" y="1738313"/>
            <a:ext cx="2238375" cy="1357313"/>
          </a:xfrm>
          <a:prstGeom prst="roundRect">
            <a:avLst>
              <a:gd name="adj" fmla="val 12126"/>
            </a:avLst>
          </a:prstGeom>
          <a:solidFill>
            <a:srgbClr val="E4DFFA"/>
          </a:solidFill>
          <a:ln/>
        </p:spPr>
      </p:sp>
      <p:sp>
        <p:nvSpPr>
          <p:cNvPr id="15" name="Text 12"/>
          <p:cNvSpPr/>
          <p:nvPr/>
        </p:nvSpPr>
        <p:spPr>
          <a:xfrm>
            <a:off x="3871913" y="1871663"/>
            <a:ext cx="19716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02 / ИНДЕКС</a:t>
            </a:r>
            <a:endParaRPr lang="en-US" sz="926" dirty="0"/>
          </a:p>
        </p:txBody>
      </p:sp>
      <p:sp>
        <p:nvSpPr>
          <p:cNvPr id="16" name="Text 13"/>
          <p:cNvSpPr/>
          <p:nvPr/>
        </p:nvSpPr>
        <p:spPr>
          <a:xfrm>
            <a:off x="3871913" y="2114550"/>
            <a:ext cx="19716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Выбранный снимок</a:t>
            </a:r>
            <a:endParaRPr lang="en-US" sz="1318" dirty="0"/>
          </a:p>
        </p:txBody>
      </p:sp>
      <p:sp>
        <p:nvSpPr>
          <p:cNvPr id="17" name="Text 14"/>
          <p:cNvSpPr/>
          <p:nvPr/>
        </p:nvSpPr>
        <p:spPr>
          <a:xfrm>
            <a:off x="3871913" y="2419350"/>
            <a:ext cx="19716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Содержимое, подготовленное для следующего коммита.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6048375" y="2190750"/>
            <a:ext cx="8810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commit →</a:t>
            </a:r>
            <a:endParaRPr lang="en-US" sz="998" dirty="0"/>
          </a:p>
        </p:txBody>
      </p:sp>
      <p:sp>
        <p:nvSpPr>
          <p:cNvPr id="19" name="Shape 16"/>
          <p:cNvSpPr/>
          <p:nvPr/>
        </p:nvSpPr>
        <p:spPr>
          <a:xfrm>
            <a:off x="6929438" y="1738313"/>
            <a:ext cx="1738313" cy="1195388"/>
          </a:xfrm>
          <a:prstGeom prst="roundRect">
            <a:avLst>
              <a:gd name="adj" fmla="val 13769"/>
            </a:avLst>
          </a:prstGeom>
          <a:solidFill>
            <a:srgbClr val="DEF3F7"/>
          </a:solidFill>
          <a:ln/>
        </p:spPr>
      </p:sp>
      <p:sp>
        <p:nvSpPr>
          <p:cNvPr id="20" name="Text 17"/>
          <p:cNvSpPr/>
          <p:nvPr/>
        </p:nvSpPr>
        <p:spPr>
          <a:xfrm>
            <a:off x="7062788" y="1871663"/>
            <a:ext cx="1471613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03 / ИСТОРИЯ</a:t>
            </a:r>
            <a:endParaRPr lang="en-US" sz="926" dirty="0"/>
          </a:p>
        </p:txBody>
      </p:sp>
      <p:sp>
        <p:nvSpPr>
          <p:cNvPr id="21" name="Text 18"/>
          <p:cNvSpPr/>
          <p:nvPr/>
        </p:nvSpPr>
        <p:spPr>
          <a:xfrm>
            <a:off x="7062788" y="2114550"/>
            <a:ext cx="14716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Коммит</a:t>
            </a:r>
            <a:endParaRPr lang="en-US" sz="1425" dirty="0"/>
          </a:p>
        </p:txBody>
      </p:sp>
      <p:sp>
        <p:nvSpPr>
          <p:cNvPr id="22" name="Text 19"/>
          <p:cNvSpPr/>
          <p:nvPr/>
        </p:nvSpPr>
        <p:spPr>
          <a:xfrm>
            <a:off x="7062788" y="2438400"/>
            <a:ext cx="147161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проекта в локальном Git.</a:t>
            </a:r>
            <a:endParaRPr lang="en-US" sz="1140" dirty="0"/>
          </a:p>
        </p:txBody>
      </p:sp>
      <p:sp>
        <p:nvSpPr>
          <p:cNvPr id="23" name="Shape 20"/>
          <p:cNvSpPr/>
          <p:nvPr/>
        </p:nvSpPr>
        <p:spPr>
          <a:xfrm>
            <a:off x="476250" y="3381375"/>
            <a:ext cx="4953000" cy="895350"/>
          </a:xfrm>
          <a:prstGeom prst="roundRect">
            <a:avLst>
              <a:gd name="adj" fmla="val 18383"/>
            </a:avLst>
          </a:prstGeom>
          <a:noFill/>
          <a:ln/>
        </p:spPr>
      </p:sp>
      <p:sp>
        <p:nvSpPr>
          <p:cNvPr id="24" name="Text 21"/>
          <p:cNvSpPr/>
          <p:nvPr/>
        </p:nvSpPr>
        <p:spPr>
          <a:xfrm>
            <a:off x="476250" y="3381375"/>
            <a:ext cx="4953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Сохранение в редакторе меняет рабочий файл. add выбирает содержимое. commit создаёт версию.</a:t>
            </a:r>
            <a:endParaRPr lang="en-US" sz="1211" dirty="0"/>
          </a:p>
        </p:txBody>
      </p:sp>
      <p:sp>
        <p:nvSpPr>
          <p:cNvPr id="25" name="Text 22"/>
          <p:cNvSpPr/>
          <p:nvPr/>
        </p:nvSpPr>
        <p:spPr>
          <a:xfrm>
            <a:off x="476250" y="3886200"/>
            <a:ext cx="4953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 получает локальные коммиты только после успешной отправки.</a:t>
            </a:r>
            <a:endParaRPr lang="en-US" sz="1211" dirty="0"/>
          </a:p>
        </p:txBody>
      </p:sp>
      <p:sp>
        <p:nvSpPr>
          <p:cNvPr id="26" name="Text 23"/>
          <p:cNvSpPr/>
          <p:nvPr/>
        </p:nvSpPr>
        <p:spPr>
          <a:xfrm>
            <a:off x="6929438" y="3238500"/>
            <a:ext cx="17383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push ↓</a:t>
            </a:r>
            <a:endParaRPr lang="en-US" sz="1069" dirty="0"/>
          </a:p>
        </p:txBody>
      </p:sp>
      <p:sp>
        <p:nvSpPr>
          <p:cNvPr id="27" name="Shape 24"/>
          <p:cNvSpPr/>
          <p:nvPr/>
        </p:nvSpPr>
        <p:spPr>
          <a:xfrm>
            <a:off x="6191250" y="3595688"/>
            <a:ext cx="2476500" cy="714375"/>
          </a:xfrm>
          <a:prstGeom prst="roundRect">
            <a:avLst>
              <a:gd name="adj" fmla="val 23040"/>
            </a:avLst>
          </a:prstGeom>
          <a:solidFill>
            <a:srgbClr val="E4DFFA"/>
          </a:solidFill>
          <a:ln/>
        </p:spPr>
      </p:sp>
      <p:sp>
        <p:nvSpPr>
          <p:cNvPr id="28" name="Text 25"/>
          <p:cNvSpPr/>
          <p:nvPr/>
        </p:nvSpPr>
        <p:spPr>
          <a:xfrm>
            <a:off x="6324600" y="3729038"/>
            <a:ext cx="220980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04 / GITHUB</a:t>
            </a:r>
            <a:endParaRPr lang="en-US" sz="926" dirty="0"/>
          </a:p>
        </p:txBody>
      </p:sp>
      <p:sp>
        <p:nvSpPr>
          <p:cNvPr id="29" name="Text 26"/>
          <p:cNvSpPr/>
          <p:nvPr/>
        </p:nvSpPr>
        <p:spPr>
          <a:xfrm>
            <a:off x="6324600" y="3971925"/>
            <a:ext cx="220980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Удалённый репозиторий</a:t>
            </a:r>
            <a:endParaRPr lang="en-US" sz="128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DEF3F7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КОНТРОЛЬ ВЕРСИЙ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Состояния файлов в Git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Статус показывает, что уже отслеживается и какие изменения подготовлены.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Один файл может иметь подготовленные изменения и более поздние изменения в рабочей области одновременно. Поэтому статус нужно читать перед коммитом.</a:t>
            </a:r>
            <a:endParaRPr lang="en-US" sz="1211" dirty="0"/>
          </a:p>
        </p:txBody>
      </p:sp>
      <p:sp>
        <p:nvSpPr>
          <p:cNvPr id="10" name="Shape 7"/>
          <p:cNvSpPr/>
          <p:nvPr/>
        </p:nvSpPr>
        <p:spPr>
          <a:xfrm>
            <a:off x="476250" y="2257425"/>
            <a:ext cx="8191500" cy="1981200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257425"/>
            <a:ext cx="8191500" cy="49530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2860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Untracked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2876550" y="22860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Новый файл ещё не включён в отслеживание.</a:t>
            </a:r>
            <a:endParaRPr lang="en-US" sz="1069" dirty="0"/>
          </a:p>
        </p:txBody>
      </p:sp>
      <p:sp>
        <p:nvSpPr>
          <p:cNvPr id="14" name="Shape 11"/>
          <p:cNvSpPr/>
          <p:nvPr/>
        </p:nvSpPr>
        <p:spPr>
          <a:xfrm>
            <a:off x="476250" y="2752725"/>
            <a:ext cx="8191500" cy="495300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7813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Modified, not staged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2876550" y="27813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Отслеживаемый файл изменён, но эта правка не подготовлена.</a:t>
            </a:r>
            <a:endParaRPr lang="en-US" sz="1069" dirty="0"/>
          </a:p>
        </p:txBody>
      </p:sp>
      <p:sp>
        <p:nvSpPr>
          <p:cNvPr id="17" name="Shape 14"/>
          <p:cNvSpPr/>
          <p:nvPr/>
        </p:nvSpPr>
        <p:spPr>
          <a:xfrm>
            <a:off x="476250" y="3248025"/>
            <a:ext cx="8191500" cy="49530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32766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Changes to be committed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2876550" y="32766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Подготовленные изменения попадут в следующий обычный commit.</a:t>
            </a:r>
            <a:endParaRPr lang="en-US" sz="1069" dirty="0"/>
          </a:p>
        </p:txBody>
      </p:sp>
      <p:sp>
        <p:nvSpPr>
          <p:cNvPr id="20" name="Shape 17"/>
          <p:cNvSpPr/>
          <p:nvPr/>
        </p:nvSpPr>
        <p:spPr>
          <a:xfrm>
            <a:off x="476250" y="3743325"/>
            <a:ext cx="8191500" cy="495300"/>
          </a:xfrm>
          <a:prstGeom prst="rect">
            <a:avLst/>
          </a:prstGeom>
          <a:noFill/>
          <a:ln/>
        </p:spPr>
      </p:sp>
      <p:sp>
        <p:nvSpPr>
          <p:cNvPr id="21" name="Text 18"/>
          <p:cNvSpPr/>
          <p:nvPr/>
        </p:nvSpPr>
        <p:spPr>
          <a:xfrm>
            <a:off x="590550" y="37719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Working tree clean</a:t>
            </a:r>
            <a:endParaRPr lang="en-US" sz="1069" dirty="0"/>
          </a:p>
        </p:txBody>
      </p:sp>
      <p:sp>
        <p:nvSpPr>
          <p:cNvPr id="22" name="Text 19"/>
          <p:cNvSpPr/>
          <p:nvPr/>
        </p:nvSpPr>
        <p:spPr>
          <a:xfrm>
            <a:off x="2876550" y="37719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Подготовленных и обычных непроигнорированных изменений нет.</a:t>
            </a:r>
            <a:endParaRPr lang="en-US" sz="1069" dirty="0"/>
          </a:p>
        </p:txBody>
      </p:sp>
      <p:sp>
        <p:nvSpPr>
          <p:cNvPr id="23" name="Text 20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status</a:t>
            </a:r>
            <a:endParaRPr lang="en-US" sz="748" dirty="0"/>
          </a:p>
        </p:txBody>
      </p:sp>
      <p:sp>
        <p:nvSpPr>
          <p:cNvPr id="24" name="Text 21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41</a:t>
            </a:r>
            <a:endParaRPr lang="en-US" sz="89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Подготовка рабочего проекта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Какие папки появятся после этих команд? Будет ли уже создан коммит?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Терминал: сначала откройте каталог, в котором будете хранить учебные проекты. Выполняйте команды по одной.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mkdir создаёт папку; cd входит в неё. init создаёт служебный каталог .git. Ветка названа main, коммитов пока нет.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--version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mkdir cs-fiit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cs-fiit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init -b main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Initialized empty Git repository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…/.git/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init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41</a:t>
            </a:r>
            <a:endParaRPr lang="en-US" sz="89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Подготовка рабочего проекта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Репозиторий создан. Чем это отличается от первого коммита?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Терминал: сначала откройте каталог, в котором будете хранить учебные проекты. Выполняйте команды по одной.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mkdir создаёт папку; cd входит в неё. init создаёт служебный каталог .git. Ветка названа main, коммитов пока нет.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--version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mkdir cs-fiit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cs-fiit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init -b main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Initialized empty Git repository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…/.git/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init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41</a:t>
            </a:r>
            <a:endParaRPr lang="en-US" sz="89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Подготовка рабочего проекта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Команды Git выполняются в терминале, а Python-код редактируется в main.py.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Терминал: сначала откройте каталог, в котором будете хранить учебные проекты. Выполняйте команды по одной.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mkdir создаёт папку; cd входит в неё. init создаёт служебный каталог .git. Ветка названа main, коммитов пока нет.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--version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mkdir cs-fiit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cs-fiit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init -b main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Initialized empty Git repository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…/.git/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init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41</a:t>
            </a:r>
            <a:endParaRPr lang="en-US" sz="89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Имя автора коммитов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выведут две последние команды? Выполнили ли мы вход в GitHub?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cs-fiit. Укажите собственные имя и адрес. Эти настройки действуют только в этом репозитории.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Первые две команды записывают данные автора. Последние две читают их обратно. Это подпись коммитов, а не вход в GitHub.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85863"/>
          </a:xfrm>
          <a:prstGeom prst="roundRect">
            <a:avLst>
              <a:gd name="adj" fmla="val 1388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user.name "Имя Фамилия"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user.email "student@example.com"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--get user.name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--get user.email</a:t>
            </a:r>
            <a:endParaRPr lang="en-US" sz="1033" dirty="0"/>
          </a:p>
        </p:txBody>
      </p:sp>
      <p:sp>
        <p:nvSpPr>
          <p:cNvPr id="16" name="Shape 13"/>
          <p:cNvSpPr/>
          <p:nvPr/>
        </p:nvSpPr>
        <p:spPr>
          <a:xfrm>
            <a:off x="4048125" y="2995613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1384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362325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Имя Фамилия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student@example.com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config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41</a:t>
            </a:r>
            <a:endParaRPr lang="en-US" sz="89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Имя автора коммитов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Какие данные сохранены и для чего Git будет их использовать?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cs-fiit. Укажите собственные имя и адрес. Эти настройки действуют только в этом репозитории.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Первые две команды записывают данные автора. Последние две читают их обратно. Это подпись коммитов, а не вход в GitHub.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85863"/>
          </a:xfrm>
          <a:prstGeom prst="roundRect">
            <a:avLst>
              <a:gd name="adj" fmla="val 1388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user.name "Имя Фамилия"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user.email "student@example.com"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--get user.name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--get user.email</a:t>
            </a:r>
            <a:endParaRPr lang="en-US" sz="1033" dirty="0"/>
          </a:p>
        </p:txBody>
      </p:sp>
      <p:sp>
        <p:nvSpPr>
          <p:cNvPr id="16" name="Shape 13"/>
          <p:cNvSpPr/>
          <p:nvPr/>
        </p:nvSpPr>
        <p:spPr>
          <a:xfrm>
            <a:off x="4048125" y="2995613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1384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362325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Имя Фамилия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student@example.com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config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41</a:t>
            </a:r>
            <a:endParaRPr lang="en-US" sz="89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Имя автора коммитов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Метаданные автора и вход в GitHub настраиваются независимо.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cs-fiit. Укажите собственные имя и адрес. Эти настройки действуют только в этом репозитории.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Первые две команды записывают данные автора. Последние две читают их обратно. Это подпись коммитов, а не вход в GitHub.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85863"/>
          </a:xfrm>
          <a:prstGeom prst="roundRect">
            <a:avLst>
              <a:gd name="adj" fmla="val 1388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user.name "Имя Фамилия"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user.email "student@example.com"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--get user.name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--get user.email</a:t>
            </a:r>
            <a:endParaRPr lang="en-US" sz="1033" dirty="0"/>
          </a:p>
        </p:txBody>
      </p:sp>
      <p:sp>
        <p:nvSpPr>
          <p:cNvPr id="16" name="Shape 13"/>
          <p:cNvSpPr/>
          <p:nvPr/>
        </p:nvSpPr>
        <p:spPr>
          <a:xfrm>
            <a:off x="4048125" y="2995613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1384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362325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Имя Фамилия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student@example.com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config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41</a:t>
            </a:r>
            <a:endParaRPr lang="en-US" sz="89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Исходная программа: версия 1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Какой результат напечатает программа? Проследите вычисление по строкам.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Редактор: создайте main.py в папке cs-fiit. Сохраните файл, затем выполните команду запуска в терминале.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Оператор = связывает имя со значением. Формула вычисляет площадь: 3 × 4 = 12. Оба множителя — целые числа. print выводит результат.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СОХРАНИТЬ В main.py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width = 3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height = 4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area = width * height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print(area)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ЗАПУСК И ВЫВОД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main.py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41</a:t>
            </a:r>
            <a:endParaRPr lang="en-US" sz="89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Исходная программа: версия 1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Почему получился именно такой результат и тип числа?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Редактор: создайте main.py в папке cs-fiit. Сохраните файл, затем выполните команду запуска в терминале.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Оператор = связывает имя со значением. Формула вычисляет площадь: 3 × 4 = 12. Оба множителя — целые числа. print выводит результат.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СОХРАНИТЬ В main.py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width = 3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height = 4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area = width * height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print(area)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ЗАПУСК И ВЫВОД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main.py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41</a:t>
            </a:r>
            <a:endParaRPr lang="en-US" sz="89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Исходная программа: версия 1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Первый коммит зафиксирует небольшой работающий пример из первой лекции.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Редактор: создайте main.py в папке cs-fiit. Сохраните файл, затем выполните команду запуска в терминале.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Оператор = связывает имя со значением. Формула вычисляет площадь: 3 × 4 = 12. Оба множителя — целые числа. print выводит результат.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СОХРАНИТЬ В main.py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width = 3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height = 4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area = width * height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print(area)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ЗАПУСК И ВЫВОД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main.py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41</a:t>
            </a:r>
            <a:endParaRPr lang="en-US" sz="89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Первый просмотр состояния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Файл сохранён, но add ещё не выполняли. Что покажет status?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504950"/>
          </a:xfrm>
          <a:prstGeom prst="roundRect">
            <a:avLst>
              <a:gd name="adj" fmla="val 109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cs-fiit. Файл main.py сохранён, но git add ещё не выполняли.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?? означает untracked: новый файл пока не выбран для следующего коммита. status только показывает состояние и ничего не сохраняет.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714375"/>
          </a:xfrm>
          <a:prstGeom prst="roundRect">
            <a:avLst>
              <a:gd name="adj" fmla="val 2304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524125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66700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2890838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?? main.py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status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41</a:t>
            </a:r>
            <a:endParaRPr lang="en-US" sz="89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Первый просмотр состояния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означают два вопросительных знака? Что делать дальше?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504950"/>
          </a:xfrm>
          <a:prstGeom prst="roundRect">
            <a:avLst>
              <a:gd name="adj" fmla="val 109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cs-fiit. Файл main.py сохранён, но git add ещё не выполняли.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?? означает untracked: новый файл пока не выбран для следующего коммита. status только показывает состояние и ничего не сохраняет.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714375"/>
          </a:xfrm>
          <a:prstGeom prst="roundRect">
            <a:avLst>
              <a:gd name="adj" fmla="val 2304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524125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66700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2890838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?? main.py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status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41</a:t>
            </a:r>
            <a:endParaRPr lang="en-US" sz="89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Первый просмотр состояния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status сообщает о состоянии проекта, не изменяя его.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504950"/>
          </a:xfrm>
          <a:prstGeom prst="roundRect">
            <a:avLst>
              <a:gd name="adj" fmla="val 109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cs-fiit. Файл main.py сохранён, но git add ещё не выполняли.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?? означает untracked: новый файл пока не выбран для следующего коммита. status только показывает состояние и ничего не сохраняет.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714375"/>
          </a:xfrm>
          <a:prstGeom prst="roundRect">
            <a:avLst>
              <a:gd name="adj" fmla="val 2304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524125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66700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2890838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?? main.py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status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41</a:t>
            </a:r>
            <a:endParaRPr lang="en-US" sz="89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Подготовка содержимого: git add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изменится после add? Появится ли коммит или файл на GitHub?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cs-fiit. Выбираем сохранённое содержимое нового main.py для первого коммита.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в первой позиции — добавление подготовлено в индексе. Пробел во второй — после add файл не менялся. История всё ещё пуста.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main.py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 main.py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41</a:t>
            </a:r>
            <a:endParaRPr lang="en-US" sz="89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Подготовка содержимого: git add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Почему A стоит в первой позиции? Что означает пробел во второй?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cs-fiit. Выбираем сохранённое содержимое нового main.py для первого коммита.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в первой позиции — добавление подготовлено в индексе. Пробел во второй — после add файл не менялся. История всё ещё пуста.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main.py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 main.py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41</a:t>
            </a:r>
            <a:endParaRPr lang="en-US" sz="89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Подготовка содержимого: git add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add main.py записывает текущее сохранённое содержимое файла в индекс.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cs-fiit. Выбираем сохранённое содержимое нового main.py для первого коммита.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в первой позиции — добавление подготовлено в индексе. Пробел во второй — после add файл не менялся. История всё ещё пуста.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main.py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 main.py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41</a:t>
            </a:r>
            <a:endParaRPr lang="en-US" sz="89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Первый коммит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изменится после commit? Что покажут status и log?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504950"/>
          </a:xfrm>
          <a:prstGeom prst="roundRect">
            <a:avLst>
              <a:gd name="adj" fmla="val 109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cs-fiit. main.py уже подготовлен через add, имя автора задано.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commit создаёт первую версию. status --short теперь ничего не выводит. log показывает одну запись; хеш у вас будет другим.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"Add initial calculation"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 УСЛОВНЫЙ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commit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41</a:t>
            </a:r>
            <a:endParaRPr lang="en-US" sz="89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Первый коммит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Почему status ничего не выводит, а log показывает запись?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504950"/>
          </a:xfrm>
          <a:prstGeom prst="roundRect">
            <a:avLst>
              <a:gd name="adj" fmla="val 109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cs-fiit. main.py уже подготовлен через add, имя автора задано.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commit создаёт первую версию. status --short теперь ничего не выводит. log показывает одну запись; хеш у вас будет другим.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"Add initial calculation"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 УСЛОВНЫЙ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commit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41</a:t>
            </a:r>
            <a:endParaRPr lang="en-US" sz="89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Первый коммит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Коммит фиксирует подготовленный снимок проекта и метаданные.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504950"/>
          </a:xfrm>
          <a:prstGeom prst="roundRect">
            <a:avLst>
              <a:gd name="adj" fmla="val 109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cs-fiit. main.py уже подготовлен через add, имя автора задано.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commit создаёт первую версию. status --short теперь ничего не выводит. log показывает одну запись; хеш у вас будет другим.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"Add initial calculation"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 УСЛОВНЫЙ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commit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41</a:t>
            </a:r>
            <a:endParaRPr lang="en-US" sz="89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Развитие программы: версия 2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изменилось в программе? Предскажите вывод для контрольного ввода. Ввод: 3 и 4.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Редактор: замените main.py этим кодом и сохраните. При запуске введите два числа, каждое с новой строки.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input() читает строку; float() получает число. Формат :.1f печатает один знак после точки. Сначала проверяем расчёт, затем создаём коммит.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НОВАЯ ВЕРСИЯ main.py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width = float(input())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height = float(input())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area = width * height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print(f"{area:.1f}")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1233488"/>
          </a:xfrm>
          <a:prstGeom prst="roundRect">
            <a:avLst>
              <a:gd name="adj" fmla="val 13344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ЗАПУСК → ДВА ВВОДА → РЕЗУЛЬТАТ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main.py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12.0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41</a:t>
            </a:r>
            <a:endParaRPr lang="en-US" sz="89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Развитие программы: версия 2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связаны input(), float() и формат :.1f?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Редактор: замените main.py этим кодом и сохраните. При запуске введите два числа, каждое с новой строки.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input() читает строку; float() получает число. Формат :.1f печатает один знак после точки. Сначала проверяем расчёт, затем создаём коммит.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НОВАЯ ВЕРСИЯ main.py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width = float(input())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height = float(input())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area = width * height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print(f"{area:.1f}")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1233488"/>
          </a:xfrm>
          <a:prstGeom prst="roundRect">
            <a:avLst>
              <a:gd name="adj" fmla="val 1334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ЗАПУСК → ДВА ВВОДА → РЕЗУЛЬТАТ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main.py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12.0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41</a:t>
            </a:r>
            <a:endParaRPr lang="en-US" sz="89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Развитие программы: версия 2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Вторая версия получает числа от пользователя и задаёт формат вывода.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Редактор: замените main.py этим кодом и сохраните. При запуске введите два числа, каждое с новой строки.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input() читает строку; float() получает число. Формат :.1f печатает один знак после точки. Сначала проверяем расчёт, затем создаём коммит.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НОВАЯ ВЕРСИЯ main.py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width = float(input())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height = float(input())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area = width * height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print(f"{area:.1f}")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1233488"/>
          </a:xfrm>
          <a:prstGeom prst="roundRect">
            <a:avLst>
              <a:gd name="adj" fmla="val 1334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ЗАПУСК → ДВА ВВОДА → РЕЗУЛЬТАТ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main.py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12.0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41</a:t>
            </a:r>
            <a:endParaRPr lang="en-US" sz="89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Сравнение до подготовки: git diff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Мы изменили файл, но не выполнили add. Какие версии сравнит diff?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504950"/>
          </a:xfrm>
          <a:prstGeom prst="roundRect">
            <a:avLst>
              <a:gd name="adj" fmla="val 109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main.py изменён и сохранён после первого коммита. Новый git add ещё не выполняли.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Минус — строка из индекса, плюс — строка из рабочей области. Эти знаки не вводят в Python. Показан фрагмент, а не весь вывод.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714375"/>
          </a:xfrm>
          <a:prstGeom prst="roundRect">
            <a:avLst>
              <a:gd name="adj" fmla="val 2304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diff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524125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66700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ФРАГМЕНТ РАЗЛИЧИЙ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2890838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-width = 3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+width = float(input())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diff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41</a:t>
            </a:r>
            <a:endParaRPr lang="en-US" sz="89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Сравнение до подготовки: git diff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прочитать строки с минусом и плюсом?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504950"/>
          </a:xfrm>
          <a:prstGeom prst="roundRect">
            <a:avLst>
              <a:gd name="adj" fmla="val 109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main.py изменён и сохранён после первого коммита. Новый git add ещё не выполняли.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Минус — строка из индекса, плюс — строка из рабочей области. Эти знаки не вводят в Python. Показан фрагмент, а не весь вывод.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714375"/>
          </a:xfrm>
          <a:prstGeom prst="roundRect">
            <a:avLst>
              <a:gd name="adj" fmla="val 2304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diff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524125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66700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ФРАГМЕНТ РАЗЛИЧИЙ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2890838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-width = 3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+width = float(input())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diff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41</a:t>
            </a:r>
            <a:endParaRPr lang="en-US" sz="89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Сравнение до подготовки: git diff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Без дополнительных аргументов git diff сравнивает рабочую область с индексом.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504950"/>
          </a:xfrm>
          <a:prstGeom prst="roundRect">
            <a:avLst>
              <a:gd name="adj" fmla="val 109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main.py изменён и сохранён после первого коммита. Новый git add ещё не выполняли.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Минус — строка из индекса, плюс — строка из рабочей области. Эти знаки не вводят в Python. Показан фрагмент, а не весь вывод.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714375"/>
          </a:xfrm>
          <a:prstGeom prst="roundRect">
            <a:avLst>
              <a:gd name="adj" fmla="val 2304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diff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524125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66700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ФРАГМЕНТ РАЗЛИЧИЙ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2890838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-width = 3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+width = float(input())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diff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41</a:t>
            </a:r>
            <a:endParaRPr lang="en-US" sz="89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попадёт в следующий коммит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После add обычный diff пуст. А что покажет diff --staged?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Подготовьте версию с вводом чисел. После add больше не редактируйте файл до следующего коммита.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Обычный diff пуст: файл совпадает с индексом. --staged показывает подготовленные правки. M в первой позиции — изменение готово к коммиту.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main.py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diff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diff --staged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1233488"/>
          </a:xfrm>
          <a:prstGeom prst="roundRect">
            <a:avLst>
              <a:gd name="adj" fmla="val 13344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ФРАГМЕНТ --staged И СТАТУС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-width = 3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+width = float(input())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  main.py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diff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41</a:t>
            </a:r>
            <a:endParaRPr lang="en-US" sz="891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попадёт в следующий коммит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Почему одна команда ничего не показала, а другая показала изменения?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Подготовьте версию с вводом чисел. После add больше не редактируйте файл до следующего коммита.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Обычный diff пуст: файл совпадает с индексом. --staged показывает подготовленные правки. M в первой позиции — изменение готово к коммиту.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main.py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diff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diff --staged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1233488"/>
          </a:xfrm>
          <a:prstGeom prst="roundRect">
            <a:avLst>
              <a:gd name="adj" fmla="val 1334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ФРАГМЕНТ --staged И СТАТУС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-width = 3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+width = float(input())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  main.py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diff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41</a:t>
            </a:r>
            <a:endParaRPr lang="en-US" sz="89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попадёт в следующий коммит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diff --staged показывает различие индекса и последнего коммита.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Подготовьте версию с вводом чисел. После add больше не редактируйте файл до следующего коммита.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Обычный diff пуст: файл совпадает с индексом. --staged показывает подготовленные правки. M в первой позиции — изменение готово к коммиту.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main.py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diff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diff --staged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1233488"/>
          </a:xfrm>
          <a:prstGeom prst="roundRect">
            <a:avLst>
              <a:gd name="adj" fmla="val 1334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ФРАГМЕНТ --staged И СТАТУС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-width = 3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+width = float(input())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  main.py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diff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41</a:t>
            </a:r>
            <a:endParaRPr lang="en-US" sz="89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 И ИНДЕКС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Сохранение, add и commit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Каждое действие сохраняет результат на своём уровне.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Если файл изменён после add, выполните add повторно. Коммит использует подготовленное содержимое, а не любую последнюю правку редактора.</a:t>
            </a:r>
            <a:endParaRPr lang="en-US" sz="1211" dirty="0"/>
          </a:p>
        </p:txBody>
      </p:sp>
      <p:sp>
        <p:nvSpPr>
          <p:cNvPr id="10" name="Shape 7"/>
          <p:cNvSpPr/>
          <p:nvPr/>
        </p:nvSpPr>
        <p:spPr>
          <a:xfrm>
            <a:off x="476250" y="2257425"/>
            <a:ext cx="8191500" cy="1981200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257425"/>
            <a:ext cx="8191500" cy="49530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2860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Сохранить в редакторе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2876550" y="22860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Обновить main.py на диске.</a:t>
            </a:r>
            <a:endParaRPr lang="en-US" sz="1069" dirty="0"/>
          </a:p>
        </p:txBody>
      </p:sp>
      <p:sp>
        <p:nvSpPr>
          <p:cNvPr id="14" name="Shape 11"/>
          <p:cNvSpPr/>
          <p:nvPr/>
        </p:nvSpPr>
        <p:spPr>
          <a:xfrm>
            <a:off x="476250" y="2752725"/>
            <a:ext cx="8191500" cy="495300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7813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add main.py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2876550" y="27813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Подготовить сохранённое состояние.</a:t>
            </a:r>
            <a:endParaRPr lang="en-US" sz="1069" dirty="0"/>
          </a:p>
        </p:txBody>
      </p:sp>
      <p:sp>
        <p:nvSpPr>
          <p:cNvPr id="17" name="Shape 14"/>
          <p:cNvSpPr/>
          <p:nvPr/>
        </p:nvSpPr>
        <p:spPr>
          <a:xfrm>
            <a:off x="476250" y="3248025"/>
            <a:ext cx="8191500" cy="49530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32766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commit -m "..."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2876550" y="32766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Создать локальную версию из подготовленного состояния.</a:t>
            </a:r>
            <a:endParaRPr lang="en-US" sz="1069" dirty="0"/>
          </a:p>
        </p:txBody>
      </p:sp>
      <p:sp>
        <p:nvSpPr>
          <p:cNvPr id="20" name="Shape 17"/>
          <p:cNvSpPr/>
          <p:nvPr/>
        </p:nvSpPr>
        <p:spPr>
          <a:xfrm>
            <a:off x="476250" y="3743325"/>
            <a:ext cx="8191500" cy="495300"/>
          </a:xfrm>
          <a:prstGeom prst="rect">
            <a:avLst/>
          </a:prstGeom>
          <a:noFill/>
          <a:ln/>
        </p:spPr>
      </p:sp>
      <p:sp>
        <p:nvSpPr>
          <p:cNvPr id="21" name="Text 18"/>
          <p:cNvSpPr/>
          <p:nvPr/>
        </p:nvSpPr>
        <p:spPr>
          <a:xfrm>
            <a:off x="590550" y="37719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push</a:t>
            </a:r>
            <a:endParaRPr lang="en-US" sz="1069" dirty="0"/>
          </a:p>
        </p:txBody>
      </p:sp>
      <p:sp>
        <p:nvSpPr>
          <p:cNvPr id="22" name="Text 19"/>
          <p:cNvSpPr/>
          <p:nvPr/>
        </p:nvSpPr>
        <p:spPr>
          <a:xfrm>
            <a:off x="2876550" y="37719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Передать зафиксированные версии на удалённый сервер.</a:t>
            </a:r>
            <a:endParaRPr lang="en-US" sz="1069" dirty="0"/>
          </a:p>
        </p:txBody>
      </p:sp>
      <p:sp>
        <p:nvSpPr>
          <p:cNvPr id="23" name="Text 20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</a:t>
            </a:r>
            <a:endParaRPr lang="en-US" sz="748" dirty="0"/>
          </a:p>
        </p:txBody>
      </p:sp>
      <p:sp>
        <p:nvSpPr>
          <p:cNvPr id="24" name="Text 21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/ 41</a:t>
            </a:r>
            <a:endParaRPr lang="en-US" sz="89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2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Индекс — это снимок на момент add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 A, индекс B, рабочий файл C. Что сохранит commit и что покажет status?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add, status, diff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/ 41</a:t>
            </a:r>
            <a:endParaRPr lang="en-US" sz="891" dirty="0"/>
          </a:p>
        </p:txBody>
      </p:sp>
      <p:sp>
        <p:nvSpPr>
          <p:cNvPr id="9" name="Shape 6"/>
          <p:cNvSpPr/>
          <p:nvPr/>
        </p:nvSpPr>
        <p:spPr>
          <a:xfrm>
            <a:off x="476250" y="1738313"/>
            <a:ext cx="2571750" cy="1576388"/>
          </a:xfrm>
          <a:prstGeom prst="roundRect">
            <a:avLst>
              <a:gd name="adj" fmla="val 10441"/>
            </a:avLst>
          </a:prstGeom>
          <a:solidFill>
            <a:srgbClr val="DEF3F7"/>
          </a:solidFill>
          <a:ln/>
        </p:spPr>
      </p:sp>
      <p:sp>
        <p:nvSpPr>
          <p:cNvPr id="10" name="Text 7"/>
          <p:cNvSpPr/>
          <p:nvPr/>
        </p:nvSpPr>
        <p:spPr>
          <a:xfrm>
            <a:off x="609600" y="1871663"/>
            <a:ext cx="23050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</a:t>
            </a:r>
            <a:endParaRPr lang="en-US" sz="926" dirty="0"/>
          </a:p>
        </p:txBody>
      </p:sp>
      <p:sp>
        <p:nvSpPr>
          <p:cNvPr id="11" name="Text 8"/>
          <p:cNvSpPr/>
          <p:nvPr/>
        </p:nvSpPr>
        <p:spPr>
          <a:xfrm>
            <a:off x="609600" y="2133600"/>
            <a:ext cx="2305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6"/>
              </a:lnSpc>
              <a:buNone/>
            </a:pPr>
            <a:r>
              <a:rPr lang="en-US" sz="1496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A</a:t>
            </a:r>
            <a:endParaRPr lang="en-US" sz="1496" dirty="0"/>
          </a:p>
        </p:txBody>
      </p:sp>
      <p:sp>
        <p:nvSpPr>
          <p:cNvPr id="12" name="Text 9"/>
          <p:cNvSpPr/>
          <p:nvPr/>
        </p:nvSpPr>
        <p:spPr>
          <a:xfrm>
            <a:off x="609600" y="2486025"/>
            <a:ext cx="23050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54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print(10)</a:t>
            </a:r>
            <a:endParaRPr lang="en-US" sz="1354" dirty="0"/>
          </a:p>
        </p:txBody>
      </p:sp>
      <p:sp>
        <p:nvSpPr>
          <p:cNvPr id="13" name="Text 10"/>
          <p:cNvSpPr/>
          <p:nvPr/>
        </p:nvSpPr>
        <p:spPr>
          <a:xfrm>
            <a:off x="609600" y="2819400"/>
            <a:ext cx="2305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Последний коммит ещё хранит исходный код.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3286125" y="1738313"/>
            <a:ext cx="2571750" cy="1576388"/>
          </a:xfrm>
          <a:prstGeom prst="roundRect">
            <a:avLst>
              <a:gd name="adj" fmla="val 10441"/>
            </a:avLst>
          </a:prstGeom>
          <a:solidFill>
            <a:srgbClr val="E4DFFA"/>
          </a:solidFill>
          <a:ln/>
        </p:spPr>
      </p:sp>
      <p:sp>
        <p:nvSpPr>
          <p:cNvPr id="15" name="Text 12"/>
          <p:cNvSpPr/>
          <p:nvPr/>
        </p:nvSpPr>
        <p:spPr>
          <a:xfrm>
            <a:off x="3419475" y="1871663"/>
            <a:ext cx="23050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ИНДЕКС</a:t>
            </a:r>
            <a:endParaRPr lang="en-US" sz="926" dirty="0"/>
          </a:p>
        </p:txBody>
      </p:sp>
      <p:sp>
        <p:nvSpPr>
          <p:cNvPr id="16" name="Text 13"/>
          <p:cNvSpPr/>
          <p:nvPr/>
        </p:nvSpPr>
        <p:spPr>
          <a:xfrm>
            <a:off x="3419475" y="2133600"/>
            <a:ext cx="2305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6"/>
              </a:lnSpc>
              <a:buNone/>
            </a:pPr>
            <a:r>
              <a:rPr lang="en-US" sz="1496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B</a:t>
            </a:r>
            <a:endParaRPr lang="en-US" sz="1496" dirty="0"/>
          </a:p>
        </p:txBody>
      </p:sp>
      <p:sp>
        <p:nvSpPr>
          <p:cNvPr id="17" name="Text 14"/>
          <p:cNvSpPr/>
          <p:nvPr/>
        </p:nvSpPr>
        <p:spPr>
          <a:xfrm>
            <a:off x="3419475" y="2486025"/>
            <a:ext cx="23050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54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print(20)</a:t>
            </a:r>
            <a:endParaRPr lang="en-US" sz="1354" dirty="0"/>
          </a:p>
        </p:txBody>
      </p:sp>
      <p:sp>
        <p:nvSpPr>
          <p:cNvPr id="18" name="Text 15"/>
          <p:cNvSpPr/>
          <p:nvPr/>
        </p:nvSpPr>
        <p:spPr>
          <a:xfrm>
            <a:off x="3419475" y="2819400"/>
            <a:ext cx="2305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Эту версию выбрали командой git add main.py.</a:t>
            </a:r>
            <a:endParaRPr lang="en-US" sz="1140" dirty="0"/>
          </a:p>
        </p:txBody>
      </p:sp>
      <p:sp>
        <p:nvSpPr>
          <p:cNvPr id="19" name="Shape 16"/>
          <p:cNvSpPr/>
          <p:nvPr/>
        </p:nvSpPr>
        <p:spPr>
          <a:xfrm>
            <a:off x="6096000" y="1738313"/>
            <a:ext cx="2571750" cy="1576388"/>
          </a:xfrm>
          <a:prstGeom prst="roundRect">
            <a:avLst>
              <a:gd name="adj" fmla="val 10441"/>
            </a:avLst>
          </a:prstGeom>
          <a:solidFill>
            <a:srgbClr val="FFE0D1"/>
          </a:solidFill>
          <a:ln/>
        </p:spPr>
      </p:sp>
      <p:sp>
        <p:nvSpPr>
          <p:cNvPr id="20" name="Text 17"/>
          <p:cNvSpPr/>
          <p:nvPr/>
        </p:nvSpPr>
        <p:spPr>
          <a:xfrm>
            <a:off x="6229350" y="1871663"/>
            <a:ext cx="23050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РАБОЧАЯ ПАПКА</a:t>
            </a:r>
            <a:endParaRPr lang="en-US" sz="926" dirty="0"/>
          </a:p>
        </p:txBody>
      </p:sp>
      <p:sp>
        <p:nvSpPr>
          <p:cNvPr id="21" name="Text 18"/>
          <p:cNvSpPr/>
          <p:nvPr/>
        </p:nvSpPr>
        <p:spPr>
          <a:xfrm>
            <a:off x="6229350" y="2133600"/>
            <a:ext cx="2305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6"/>
              </a:lnSpc>
              <a:buNone/>
            </a:pPr>
            <a:r>
              <a:rPr lang="en-US" sz="1496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C</a:t>
            </a:r>
            <a:endParaRPr lang="en-US" sz="1496" dirty="0"/>
          </a:p>
        </p:txBody>
      </p:sp>
      <p:sp>
        <p:nvSpPr>
          <p:cNvPr id="22" name="Text 19"/>
          <p:cNvSpPr/>
          <p:nvPr/>
        </p:nvSpPr>
        <p:spPr>
          <a:xfrm>
            <a:off x="6229350" y="2486025"/>
            <a:ext cx="23050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54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print(30)</a:t>
            </a:r>
            <a:endParaRPr lang="en-US" sz="1354" dirty="0"/>
          </a:p>
        </p:txBody>
      </p:sp>
      <p:sp>
        <p:nvSpPr>
          <p:cNvPr id="23" name="Text 20"/>
          <p:cNvSpPr/>
          <p:nvPr/>
        </p:nvSpPr>
        <p:spPr>
          <a:xfrm>
            <a:off x="6229350" y="2819400"/>
            <a:ext cx="2305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Эту правку сохранили уже после git add.</a:t>
            </a:r>
            <a:endParaRPr lang="en-US" sz="1140" dirty="0"/>
          </a:p>
        </p:txBody>
      </p:sp>
      <p:sp>
        <p:nvSpPr>
          <p:cNvPr id="24" name="Shape 21"/>
          <p:cNvSpPr/>
          <p:nvPr/>
        </p:nvSpPr>
        <p:spPr>
          <a:xfrm>
            <a:off x="476250" y="3595688"/>
            <a:ext cx="3857625" cy="895350"/>
          </a:xfrm>
          <a:prstGeom prst="roundRect">
            <a:avLst>
              <a:gd name="adj" fmla="val 18383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609600" y="3729038"/>
            <a:ext cx="35909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 → MM main.py</a:t>
            </a:r>
            <a:endParaRPr lang="en-US" sz="1069" dirty="0"/>
          </a:p>
        </p:txBody>
      </p:sp>
      <p:sp>
        <p:nvSpPr>
          <p:cNvPr id="26" name="Text 23"/>
          <p:cNvSpPr/>
          <p:nvPr/>
        </p:nvSpPr>
        <p:spPr>
          <a:xfrm>
            <a:off x="609600" y="3995738"/>
            <a:ext cx="35909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Первая M: индекс отличается от истории. Вторая M: файл отличается от индекса.</a:t>
            </a:r>
            <a:endParaRPr lang="en-US" sz="1140" dirty="0"/>
          </a:p>
        </p:txBody>
      </p:sp>
      <p:sp>
        <p:nvSpPr>
          <p:cNvPr id="27" name="Shape 24"/>
          <p:cNvSpPr/>
          <p:nvPr/>
        </p:nvSpPr>
        <p:spPr>
          <a:xfrm>
            <a:off x="4572000" y="3595688"/>
            <a:ext cx="4095750" cy="895350"/>
          </a:xfrm>
          <a:prstGeom prst="roundRect">
            <a:avLst>
              <a:gd name="adj" fmla="val 18383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4705350" y="3729038"/>
            <a:ext cx="3829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сохранит обычный git commit?</a:t>
            </a:r>
            <a:endParaRPr lang="en-US" sz="1069" dirty="0"/>
          </a:p>
        </p:txBody>
      </p:sp>
      <p:sp>
        <p:nvSpPr>
          <p:cNvPr id="29" name="Text 26"/>
          <p:cNvSpPr/>
          <p:nvPr/>
        </p:nvSpPr>
        <p:spPr>
          <a:xfrm>
            <a:off x="4705350" y="3995738"/>
            <a:ext cx="3829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Версию B. Чтобы включить C, повторите git add main.py перед коммитом.</a:t>
            </a:r>
            <a:endParaRPr lang="en-US" sz="114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2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Индекс — это снимок на момент add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Отдельный пример: после подготовки версии B вы сохранили новую версию C.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add, status, diff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/ 41</a:t>
            </a:r>
            <a:endParaRPr lang="en-US" sz="891" dirty="0"/>
          </a:p>
        </p:txBody>
      </p:sp>
      <p:sp>
        <p:nvSpPr>
          <p:cNvPr id="9" name="Shape 6"/>
          <p:cNvSpPr/>
          <p:nvPr/>
        </p:nvSpPr>
        <p:spPr>
          <a:xfrm>
            <a:off x="476250" y="1738313"/>
            <a:ext cx="2571750" cy="1576388"/>
          </a:xfrm>
          <a:prstGeom prst="roundRect">
            <a:avLst>
              <a:gd name="adj" fmla="val 10441"/>
            </a:avLst>
          </a:prstGeom>
          <a:solidFill>
            <a:srgbClr val="DEF3F7"/>
          </a:solidFill>
          <a:ln/>
        </p:spPr>
      </p:sp>
      <p:sp>
        <p:nvSpPr>
          <p:cNvPr id="10" name="Text 7"/>
          <p:cNvSpPr/>
          <p:nvPr/>
        </p:nvSpPr>
        <p:spPr>
          <a:xfrm>
            <a:off x="609600" y="1871663"/>
            <a:ext cx="23050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</a:t>
            </a:r>
            <a:endParaRPr lang="en-US" sz="926" dirty="0"/>
          </a:p>
        </p:txBody>
      </p:sp>
      <p:sp>
        <p:nvSpPr>
          <p:cNvPr id="11" name="Text 8"/>
          <p:cNvSpPr/>
          <p:nvPr/>
        </p:nvSpPr>
        <p:spPr>
          <a:xfrm>
            <a:off x="609600" y="2133600"/>
            <a:ext cx="2305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6"/>
              </a:lnSpc>
              <a:buNone/>
            </a:pPr>
            <a:r>
              <a:rPr lang="en-US" sz="1496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A</a:t>
            </a:r>
            <a:endParaRPr lang="en-US" sz="1496" dirty="0"/>
          </a:p>
        </p:txBody>
      </p:sp>
      <p:sp>
        <p:nvSpPr>
          <p:cNvPr id="12" name="Text 9"/>
          <p:cNvSpPr/>
          <p:nvPr/>
        </p:nvSpPr>
        <p:spPr>
          <a:xfrm>
            <a:off x="609600" y="2486025"/>
            <a:ext cx="23050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54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print(10)</a:t>
            </a:r>
            <a:endParaRPr lang="en-US" sz="1354" dirty="0"/>
          </a:p>
        </p:txBody>
      </p:sp>
      <p:sp>
        <p:nvSpPr>
          <p:cNvPr id="13" name="Text 10"/>
          <p:cNvSpPr/>
          <p:nvPr/>
        </p:nvSpPr>
        <p:spPr>
          <a:xfrm>
            <a:off x="609600" y="2819400"/>
            <a:ext cx="2305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Последний коммит ещё хранит исходный код.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3286125" y="1738313"/>
            <a:ext cx="2571750" cy="1576388"/>
          </a:xfrm>
          <a:prstGeom prst="roundRect">
            <a:avLst>
              <a:gd name="adj" fmla="val 10441"/>
            </a:avLst>
          </a:prstGeom>
          <a:solidFill>
            <a:srgbClr val="E4DFFA"/>
          </a:solidFill>
          <a:ln/>
        </p:spPr>
      </p:sp>
      <p:sp>
        <p:nvSpPr>
          <p:cNvPr id="15" name="Text 12"/>
          <p:cNvSpPr/>
          <p:nvPr/>
        </p:nvSpPr>
        <p:spPr>
          <a:xfrm>
            <a:off x="3419475" y="1871663"/>
            <a:ext cx="23050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ИНДЕКС</a:t>
            </a:r>
            <a:endParaRPr lang="en-US" sz="926" dirty="0"/>
          </a:p>
        </p:txBody>
      </p:sp>
      <p:sp>
        <p:nvSpPr>
          <p:cNvPr id="16" name="Text 13"/>
          <p:cNvSpPr/>
          <p:nvPr/>
        </p:nvSpPr>
        <p:spPr>
          <a:xfrm>
            <a:off x="3419475" y="2133600"/>
            <a:ext cx="2305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6"/>
              </a:lnSpc>
              <a:buNone/>
            </a:pPr>
            <a:r>
              <a:rPr lang="en-US" sz="1496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B</a:t>
            </a:r>
            <a:endParaRPr lang="en-US" sz="1496" dirty="0"/>
          </a:p>
        </p:txBody>
      </p:sp>
      <p:sp>
        <p:nvSpPr>
          <p:cNvPr id="17" name="Text 14"/>
          <p:cNvSpPr/>
          <p:nvPr/>
        </p:nvSpPr>
        <p:spPr>
          <a:xfrm>
            <a:off x="3419475" y="2486025"/>
            <a:ext cx="23050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54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print(20)</a:t>
            </a:r>
            <a:endParaRPr lang="en-US" sz="1354" dirty="0"/>
          </a:p>
        </p:txBody>
      </p:sp>
      <p:sp>
        <p:nvSpPr>
          <p:cNvPr id="18" name="Text 15"/>
          <p:cNvSpPr/>
          <p:nvPr/>
        </p:nvSpPr>
        <p:spPr>
          <a:xfrm>
            <a:off x="3419475" y="2819400"/>
            <a:ext cx="2305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Эту версию выбрали командой git add main.py.</a:t>
            </a:r>
            <a:endParaRPr lang="en-US" sz="1140" dirty="0"/>
          </a:p>
        </p:txBody>
      </p:sp>
      <p:sp>
        <p:nvSpPr>
          <p:cNvPr id="19" name="Shape 16"/>
          <p:cNvSpPr/>
          <p:nvPr/>
        </p:nvSpPr>
        <p:spPr>
          <a:xfrm>
            <a:off x="6096000" y="1738313"/>
            <a:ext cx="2571750" cy="1576388"/>
          </a:xfrm>
          <a:prstGeom prst="roundRect">
            <a:avLst>
              <a:gd name="adj" fmla="val 10441"/>
            </a:avLst>
          </a:prstGeom>
          <a:solidFill>
            <a:srgbClr val="FFE0D1"/>
          </a:solidFill>
          <a:ln/>
        </p:spPr>
      </p:sp>
      <p:sp>
        <p:nvSpPr>
          <p:cNvPr id="20" name="Text 17"/>
          <p:cNvSpPr/>
          <p:nvPr/>
        </p:nvSpPr>
        <p:spPr>
          <a:xfrm>
            <a:off x="6229350" y="1871663"/>
            <a:ext cx="23050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РАБОЧАЯ ПАПКА</a:t>
            </a:r>
            <a:endParaRPr lang="en-US" sz="926" dirty="0"/>
          </a:p>
        </p:txBody>
      </p:sp>
      <p:sp>
        <p:nvSpPr>
          <p:cNvPr id="21" name="Text 18"/>
          <p:cNvSpPr/>
          <p:nvPr/>
        </p:nvSpPr>
        <p:spPr>
          <a:xfrm>
            <a:off x="6229350" y="2133600"/>
            <a:ext cx="2305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6"/>
              </a:lnSpc>
              <a:buNone/>
            </a:pPr>
            <a:r>
              <a:rPr lang="en-US" sz="1496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C</a:t>
            </a:r>
            <a:endParaRPr lang="en-US" sz="1496" dirty="0"/>
          </a:p>
        </p:txBody>
      </p:sp>
      <p:sp>
        <p:nvSpPr>
          <p:cNvPr id="22" name="Text 19"/>
          <p:cNvSpPr/>
          <p:nvPr/>
        </p:nvSpPr>
        <p:spPr>
          <a:xfrm>
            <a:off x="6229350" y="2486025"/>
            <a:ext cx="23050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54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print(30)</a:t>
            </a:r>
            <a:endParaRPr lang="en-US" sz="1354" dirty="0"/>
          </a:p>
        </p:txBody>
      </p:sp>
      <p:sp>
        <p:nvSpPr>
          <p:cNvPr id="23" name="Text 20"/>
          <p:cNvSpPr/>
          <p:nvPr/>
        </p:nvSpPr>
        <p:spPr>
          <a:xfrm>
            <a:off x="6229350" y="2819400"/>
            <a:ext cx="2305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Эту правку сохранили уже после git add.</a:t>
            </a:r>
            <a:endParaRPr lang="en-US" sz="1140" dirty="0"/>
          </a:p>
        </p:txBody>
      </p:sp>
      <p:sp>
        <p:nvSpPr>
          <p:cNvPr id="24" name="Shape 21"/>
          <p:cNvSpPr/>
          <p:nvPr/>
        </p:nvSpPr>
        <p:spPr>
          <a:xfrm>
            <a:off x="476250" y="3595688"/>
            <a:ext cx="3857625" cy="895350"/>
          </a:xfrm>
          <a:prstGeom prst="roundRect">
            <a:avLst>
              <a:gd name="adj" fmla="val 18383"/>
            </a:avLst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609600" y="3729038"/>
            <a:ext cx="35909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 → MM main.py</a:t>
            </a:r>
            <a:endParaRPr lang="en-US" sz="1069" dirty="0"/>
          </a:p>
        </p:txBody>
      </p:sp>
      <p:sp>
        <p:nvSpPr>
          <p:cNvPr id="26" name="Text 23"/>
          <p:cNvSpPr/>
          <p:nvPr/>
        </p:nvSpPr>
        <p:spPr>
          <a:xfrm>
            <a:off x="609600" y="3995738"/>
            <a:ext cx="35909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Первая M: индекс отличается от истории. Вторая M: файл отличается от индекса.</a:t>
            </a:r>
            <a:endParaRPr lang="en-US" sz="1140" dirty="0"/>
          </a:p>
        </p:txBody>
      </p:sp>
      <p:sp>
        <p:nvSpPr>
          <p:cNvPr id="27" name="Shape 24"/>
          <p:cNvSpPr/>
          <p:nvPr/>
        </p:nvSpPr>
        <p:spPr>
          <a:xfrm>
            <a:off x="4572000" y="3595688"/>
            <a:ext cx="4095750" cy="895350"/>
          </a:xfrm>
          <a:prstGeom prst="roundRect">
            <a:avLst>
              <a:gd name="adj" fmla="val 18383"/>
            </a:avLst>
          </a:prstGeom>
          <a:solidFill>
            <a:srgbClr val="DEF3F7"/>
          </a:solidFill>
          <a:ln/>
        </p:spPr>
      </p:sp>
      <p:sp>
        <p:nvSpPr>
          <p:cNvPr id="28" name="Text 25"/>
          <p:cNvSpPr/>
          <p:nvPr/>
        </p:nvSpPr>
        <p:spPr>
          <a:xfrm>
            <a:off x="4705350" y="3729038"/>
            <a:ext cx="3829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сохранит обычный git commit?</a:t>
            </a:r>
            <a:endParaRPr lang="en-US" sz="1069" dirty="0"/>
          </a:p>
        </p:txBody>
      </p:sp>
      <p:sp>
        <p:nvSpPr>
          <p:cNvPr id="29" name="Text 26"/>
          <p:cNvSpPr/>
          <p:nvPr/>
        </p:nvSpPr>
        <p:spPr>
          <a:xfrm>
            <a:off x="4705350" y="3995738"/>
            <a:ext cx="3829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Версию B. Чтобы включить C, повторите git add main.py перед коммитом.</a:t>
            </a:r>
            <a:endParaRPr lang="en-US" sz="114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Второй коммит и его смысл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Сколько записей будет в истории после этих команд? Какая окажется сверху?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main.py проверен и подготовлен. Завершаем одно связанное изменение: переход к вводу пользователя.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Ключ -m задаёт сообщение коммита. В log новые записи выше старых. Пустой status --short означает чистую рабочую область.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"Read values from input"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 -2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commit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41</a:t>
            </a:r>
            <a:endParaRPr lang="en-US" sz="891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Второй коммит и его смысл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говорит сообщение нового коммита о смысле изменения?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main.py проверен и подготовлен. Завершаем одно связанное изменение: переход к вводу пользователя.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Ключ -m задаёт сообщение коммита. В log новые записи выше старых. Пустой status --short означает чистую рабочую область.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"Read values from input"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 -2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commit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41</a:t>
            </a:r>
            <a:endParaRPr lang="en-US" sz="891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Второй коммит и его смысл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Один коммит должен выражать законченное изменение проекта.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main.py проверен и подготовлен. Завершаем одно связанное изменение: переход к вводу пользователя.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Ключ -m задаёт сообщение коммита. В log новые записи выше старых. Пустой status --short означает чистую рабочую область.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"Read values from input"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 -2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commit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41</a:t>
            </a:r>
            <a:endParaRPr lang="en-US" sz="891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Чтение истории коммитов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Какую информацию покажет log --oneline? В каком порядке?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репозитории с двумя коммитами. Команда читает историю и не изменяет файлы.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Слева — сокращённый идентификатор версии, справа — сообщение. --oneline даёт одну строку на коммит. Если открылся просмотрщик, выйдите клавишей q.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714375"/>
          </a:xfrm>
          <a:prstGeom prst="roundRect">
            <a:avLst>
              <a:gd name="adj" fmla="val 2304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524125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66700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УЧЕБНЫЙ ВЫВОД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2890838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log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41</a:t>
            </a:r>
            <a:endParaRPr lang="en-US" sz="891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Чтение истории коммитов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отличить идентификатор версии от сообщения коммита?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репозитории с двумя коммитами. Команда читает историю и не изменяет файлы.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Слева — сокращённый идентификатор версии, справа — сообщение. --oneline даёт одну строку на коммит. Если открылся просмотрщик, выйдите клавишей q.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714375"/>
          </a:xfrm>
          <a:prstGeom prst="roundRect">
            <a:avLst>
              <a:gd name="adj" fmla="val 2304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524125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66700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УЧЕБНЫЙ ВЫВОД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2890838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log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41</a:t>
            </a:r>
            <a:endParaRPr lang="en-US" sz="891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Чтение истории коммитов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log --oneline выводит сокращённый идентификатор и сообщение для каждой записи.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репозитории с двумя коммитами. Команда читает историю и не изменяет файлы.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Слева — сокращённый идентификатор версии, справа — сообщение. --oneline даёт одну строку на коммит. Если открылся просмотрщик, выйдите клавишей q.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714375"/>
          </a:xfrm>
          <a:prstGeom prst="roundRect">
            <a:avLst>
              <a:gd name="adj" fmla="val 2304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524125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66700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УЧЕБНЫЙ ВЫВОД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2890838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log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41</a:t>
            </a:r>
            <a:endParaRPr lang="en-US" sz="891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 И ИНДЕКС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Ветка и текущая линия разработки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Ветка — именованная ссылка на коммит, которая продвигается при новых коммитах в этой ветке.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7620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нашем проекте используется ветка main. Имя main является соглашением и не задаёт особый тип кода.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295525"/>
            <a:ext cx="466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обычном режиме HEAD указывает на текущую ветку.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695450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main: C1 → C2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400300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C1: исходный расчёт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C2: ввод пользователя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2886075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Текущая ветка: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branch --show-current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branch</a:t>
            </a:r>
            <a:endParaRPr lang="en-US" sz="748" dirty="0"/>
          </a:p>
        </p:txBody>
      </p:sp>
      <p:sp>
        <p:nvSpPr>
          <p:cNvPr id="18" name="Text 15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/ 41</a:t>
            </a:r>
            <a:endParaRPr lang="en-US" sz="891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СОСТАВ ПРОЕКТА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README и состав проекта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README.md описывает назначение программы, запуск и формат данных.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Документация нужна, чтобы другой человек смог повторить запуск без устных подсказок. Запишите команду, число строк входа и пример результата.</a:t>
            </a:r>
            <a:endParaRPr lang="en-US" sz="1283" dirty="0"/>
          </a:p>
        </p:txBody>
      </p:sp>
      <p:sp>
        <p:nvSpPr>
          <p:cNvPr id="11" name="Shape 8"/>
          <p:cNvSpPr/>
          <p:nvPr/>
        </p:nvSpPr>
        <p:spPr>
          <a:xfrm>
            <a:off x="5619750" y="1743075"/>
            <a:ext cx="3048000" cy="154305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2" name="Text 9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3" name="Text 10"/>
          <p:cNvSpPr/>
          <p:nvPr/>
        </p:nvSpPr>
        <p:spPr>
          <a:xfrm>
            <a:off x="5762625" y="2119313"/>
            <a:ext cx="2762250" cy="1023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README.md: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назначение программы;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требования Python 3;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команда python main.py;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входа и выхода.</a:t>
            </a:r>
            <a:endParaRPr lang="en-US" sz="1247" dirty="0"/>
          </a:p>
        </p:txBody>
      </p:sp>
      <p:sp>
        <p:nvSpPr>
          <p:cNvPr id="14" name="Text 11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5" name="Text 12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/ 41</a:t>
            </a:r>
            <a:endParaRPr lang="en-US" sz="891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Какие файлы исключают: .gitignore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Какие файлы исключают эти правила? Нужно ли сохранять сам .gitignore?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Редактор: создайте .gitignore в корне проекта. Вставьте три правила справа. README.md уже подготовлен на предыдущем слайде.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Каждая строка — правило исключения. Здесь игнорируются окружение и служебные файлы Python. Сам .gitignore сохраняем в истории.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СОДЕРЖИМОЕ ФАЙЛА .gitignore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.venv/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__pycache__/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*.pyc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ЗАТЕМ ВВЕСТИ В ТЕРМИНАЛЕ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README.md .gitignore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исключаемые файлы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/ 41</a:t>
            </a:r>
            <a:endParaRPr lang="en-US" sz="891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Какие файлы исключают: .gitignore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Почему README.md и .gitignore тоже добавляют в историю?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Редактор: создайте .gitignore в корне проекта. Вставьте три правила справа. README.md уже подготовлен на предыдущем слайде.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Каждая строка — правило исключения. Здесь игнорируются окружение и служебные файлы Python. Сам .gitignore сохраняем в истории.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СОДЕРЖИМОЕ ФАЙЛА .gitignore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.venv/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__pycache__/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*.pyc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ЗАТЕМ ВВЕСТИ В ТЕРМИНАЛЕ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README.md .gitignore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исключаемые файлы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/ 41</a:t>
            </a:r>
            <a:endParaRPr lang="en-US" sz="891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Какие файлы исключают: .gitignore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Правила .gitignore относятся прежде всего к намеренно неотслеживаемым файлам.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Редактор: создайте .gitignore в корне проекта. Вставьте три правила справа. README.md уже подготовлен на предыдущем слайде.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Каждая строка — правило исключения. Здесь игнорируются окружение и служебные файлы Python. Сам .gitignore сохраняем в истории.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СОДЕРЖИМОЕ ФАЙЛА .gitignore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.venv/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__pycache__/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*.pyc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ЗАТЕМ ВВЕСТИ В ТЕРМИНАЛЕ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README.md .gitignore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исключаемые файлы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/ 41</a:t>
            </a:r>
            <a:endParaRPr lang="en-US" sz="891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Третья версия: проект можно повторить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Какая новая запись появится в истории? Зачем отдельный коммит документации?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README.md и .gitignore уже добавлены в индекс. main.py не менялся после второго коммита.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Третья версия объединяет работающий код, инструкцию запуска и правила исключения. В истории видны три законченных этапа.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"Document project setup"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 -3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1052513"/>
          </a:xfrm>
          <a:prstGeom prst="roundRect">
            <a:avLst>
              <a:gd name="adj" fmla="val 15638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c39a2b0 Document project setup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 / 41</a:t>
            </a:r>
            <a:endParaRPr lang="en-US" sz="891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Третья версия: проект можно повторить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Какие три этапа проекта теперь можно восстановить по истории?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README.md и .gitignore уже добавлены в индекс. main.py не менялся после второго коммита.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Третья версия объединяет работающий код, инструкцию запуска и правила исключения. В истории видны три законченных этапа.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"Document project setup"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 -3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1052513"/>
          </a:xfrm>
          <a:prstGeom prst="roundRect">
            <a:avLst>
              <a:gd name="adj" fmla="val 15638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c39a2b0 Document project setup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 / 41</a:t>
            </a:r>
            <a:endParaRPr lang="en-US" sz="891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Третья версия: проект можно повторить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Документация и правила исключения завершают базовый учебный проект.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README.md и .gitignore уже добавлены в индекс. main.py не менялся после второго коммита.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Третья версия объединяет работающий код, инструкцию запуска и правила исключения. В истории видны три законченных этапа.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"Document project setup"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 -3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1052513"/>
          </a:xfrm>
          <a:prstGeom prst="roundRect">
            <a:avLst>
              <a:gd name="adj" fmla="val 15638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c39a2b0 Document project setup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 / 41</a:t>
            </a:r>
            <a:endParaRPr lang="en-US" sz="891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ОБМЕН С GITHUB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Удалённый репозиторий и origin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Remote — сохранённое имя адреса другого репозитория.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1390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origin — распространённое имя удалённого репозитория, а не встроенное обозначение GitHub.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3238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Добавление remote сохраняет адрес. Передача коммитов выполняется отдельно командой push.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157638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/ ТЕРМИНАЛ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remote -v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После добавления адреса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здесь будут строки origin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для fetch и push.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remote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 / 41</a:t>
            </a:r>
            <a:endParaRPr lang="en-US" sz="891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DEF3F7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ОБМЕН С GITHUB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Создание проекта на GitHub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публикации уже созданной локальной истории нужен пустой удалённый репозиторий.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9715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GitHub создайте репозиторий с именем cs-fiit. Видимость выбирается по правилам курса.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29552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 этом способе не добавляйте README, .gitignore и лицензию на сайте: нужные файлы уже созданы локально.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61925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Далее скопируйте HTTPS-адрес репозитория.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605088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Обозначение REPOSITORY_URL в командах нужно заменить этим адресом.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 · создание репозитория</a:t>
            </a:r>
            <a:endParaRPr lang="en-US" sz="748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/ 41</a:t>
            </a:r>
            <a:endParaRPr lang="en-US" sz="891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ОБМЕН С GITHUB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Аутентификация при отправке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 должен установить, какой пользователь выполняет push и имеет ли он право записи.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1811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HTTPS можно использовать Git Credential Manager с входом через браузер. Он хранит учётные данные для последующих обращений.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Имя автора коммита в git config не выполняет аутентификацию.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619250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Используйте настроенный способ входа курса.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605088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Пароль аккаунта не применяется как пароль для Git по HTTPS. Токен не записывают в исходный код.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 · аутентификация Git</a:t>
            </a:r>
            <a:endParaRPr lang="en-US" sz="748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 / 41</a:t>
            </a:r>
            <a:endParaRPr lang="en-US" sz="891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Связь с GitHub и первый push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обозначают origin, main и -u? Что изменится на GitHub?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2047875"/>
          </a:xfrm>
          <a:prstGeom prst="roundRect">
            <a:avLst>
              <a:gd name="adj" fmla="val 80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 GitHub создан пустой репозиторий. Замените REPOSITORY_URL его адресом из кнопки Code. Вход и доступ должны быть настроены.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78130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3028950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origin — имя удалённого адреса; main — отправляемая ветка. -u запоминает связь веток. Проверьте на GitHub три коммита и файлы проекта.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ЛОКАЛЬНОМ ПРОЕКТЕ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remote add origin REPOSITORY_URL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push -u origin main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833438"/>
          </a:xfrm>
          <a:prstGeom prst="roundRect">
            <a:avLst>
              <a:gd name="adj" fmla="val 19749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ФРАГМЕНТ УСПЕШНОЙ ОТПРАВКИ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[new branch] main -&gt; main</a:t>
            </a:r>
            <a:endParaRPr lang="en-US" sz="998" dirty="0"/>
          </a:p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branch 'main' set up to track 'origin/main'.</a:t>
            </a:r>
            <a:endParaRPr lang="en-US" sz="998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push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/ 41</a:t>
            </a:r>
            <a:endParaRPr lang="en-US" sz="891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Связь с GitHub и первый push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по результату понять, что первая отправка прошла успешно?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2047875"/>
          </a:xfrm>
          <a:prstGeom prst="roundRect">
            <a:avLst>
              <a:gd name="adj" fmla="val 80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 GitHub создан пустой репозиторий. Замените REPOSITORY_URL его адресом из кнопки Code. Вход и доступ должны быть настроены.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78130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3028950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origin — имя удалённого адреса; main — отправляемая ветка. -u запоминает связь веток. Проверьте на GitHub три коммита и файлы проекта.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ЛОКАЛЬНОМ ПРОЕКТЕ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remote add origin REPOSITORY_URL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push -u origin main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833438"/>
          </a:xfrm>
          <a:prstGeom prst="roundRect">
            <a:avLst>
              <a:gd name="adj" fmla="val 19749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ФРАГМЕНТ УСПЕШНОЙ ОТПРАВКИ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[new branch] main -&gt; main</a:t>
            </a:r>
            <a:endParaRPr lang="en-US" sz="998" dirty="0"/>
          </a:p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branch 'main' set up to track 'origin/main'.</a:t>
            </a:r>
            <a:endParaRPr lang="en-US" sz="998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push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/ 41</a:t>
            </a:r>
            <a:endParaRPr lang="en-US" sz="891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Связь с GitHub и первый push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push передаёт необходимые объекты и обновляет ветку удалённого репозитория.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2047875"/>
          </a:xfrm>
          <a:prstGeom prst="roundRect">
            <a:avLst>
              <a:gd name="adj" fmla="val 80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 GitHub создан пустой репозиторий. Замените REPOSITORY_URL его адресом из кнопки Code. Вход и доступ должны быть настроены.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78130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3028950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origin — имя удалённого адреса; main — отправляемая ветка. -u запоминает связь веток. Проверьте на GitHub три коммита и файлы проекта.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ЛОКАЛЬНОМ ПРОЕКТЕ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remote add origin REPOSITORY_URL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push -u origin main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833438"/>
          </a:xfrm>
          <a:prstGeom prst="roundRect">
            <a:avLst>
              <a:gd name="adj" fmla="val 19749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ФРАГМЕНТ УСПЕШНОЙ ОТПРАВКИ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[new branch] main -&gt; main</a:t>
            </a:r>
            <a:endParaRPr lang="en-US" sz="998" dirty="0"/>
          </a:p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branch 'main' set up to track 'origin/main'.</a:t>
            </a:r>
            <a:endParaRPr lang="en-US" sz="998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push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/ 41</a:t>
            </a:r>
            <a:endParaRPr lang="en-US" sz="891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2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меняется после git push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Локально есть коммит C, на GitHub только A и B. Что изменит push?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push; упрощённая схема линейной истории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 / 41</a:t>
            </a:r>
            <a:endParaRPr lang="en-US" sz="891" dirty="0"/>
          </a:p>
        </p:txBody>
      </p:sp>
      <p:sp>
        <p:nvSpPr>
          <p:cNvPr id="9" name="Text 6"/>
          <p:cNvSpPr/>
          <p:nvPr/>
        </p:nvSpPr>
        <p:spPr>
          <a:xfrm>
            <a:off x="476250" y="1666875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4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 ОТПРАВКИ</a:t>
            </a:r>
            <a:endParaRPr lang="en-US" sz="962" dirty="0"/>
          </a:p>
        </p:txBody>
      </p:sp>
      <p:sp>
        <p:nvSpPr>
          <p:cNvPr id="10" name="Text 7"/>
          <p:cNvSpPr/>
          <p:nvPr/>
        </p:nvSpPr>
        <p:spPr>
          <a:xfrm>
            <a:off x="5048250" y="1666875"/>
            <a:ext cx="361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4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ПОСЛЕ УСПЕШНОЙ ОТПРАВКИ</a:t>
            </a:r>
            <a:endParaRPr lang="en-US" sz="962" dirty="0"/>
          </a:p>
        </p:txBody>
      </p:sp>
      <p:sp>
        <p:nvSpPr>
          <p:cNvPr id="11" name="Text 8"/>
          <p:cNvSpPr/>
          <p:nvPr/>
        </p:nvSpPr>
        <p:spPr>
          <a:xfrm>
            <a:off x="476250" y="2000250"/>
            <a:ext cx="3571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Локальная main</a:t>
            </a:r>
            <a:endParaRPr lang="en-US" sz="1140" dirty="0"/>
          </a:p>
        </p:txBody>
      </p:sp>
      <p:sp>
        <p:nvSpPr>
          <p:cNvPr id="12" name="Shape 9"/>
          <p:cNvSpPr/>
          <p:nvPr/>
        </p:nvSpPr>
        <p:spPr>
          <a:xfrm>
            <a:off x="476250" y="2262188"/>
            <a:ext cx="2857500" cy="428625"/>
          </a:xfrm>
          <a:prstGeom prst="rect">
            <a:avLst/>
          </a:prstGeom>
          <a:noFill/>
          <a:ln/>
        </p:spPr>
      </p:sp>
      <p:sp>
        <p:nvSpPr>
          <p:cNvPr id="13" name="Shape 10"/>
          <p:cNvSpPr/>
          <p:nvPr/>
        </p:nvSpPr>
        <p:spPr>
          <a:xfrm>
            <a:off x="476250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</a:t>
            </a:r>
            <a:endParaRPr lang="en-US" sz="1318" dirty="0"/>
          </a:p>
        </p:txBody>
      </p:sp>
      <p:sp>
        <p:nvSpPr>
          <p:cNvPr id="15" name="Shape 12"/>
          <p:cNvSpPr/>
          <p:nvPr/>
        </p:nvSpPr>
        <p:spPr>
          <a:xfrm>
            <a:off x="1152525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16" name="Text 13"/>
          <p:cNvSpPr/>
          <p:nvPr/>
        </p:nvSpPr>
        <p:spPr>
          <a:xfrm>
            <a:off x="1247775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</a:t>
            </a:r>
            <a:endParaRPr lang="en-US" sz="1318" dirty="0"/>
          </a:p>
        </p:txBody>
      </p:sp>
      <p:sp>
        <p:nvSpPr>
          <p:cNvPr id="17" name="Shape 14"/>
          <p:cNvSpPr/>
          <p:nvPr/>
        </p:nvSpPr>
        <p:spPr>
          <a:xfrm>
            <a:off x="1828800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18" name="Text 15"/>
          <p:cNvSpPr/>
          <p:nvPr/>
        </p:nvSpPr>
        <p:spPr>
          <a:xfrm>
            <a:off x="1924050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</a:t>
            </a:r>
            <a:endParaRPr lang="en-US" sz="1318" dirty="0"/>
          </a:p>
        </p:txBody>
      </p:sp>
      <p:sp>
        <p:nvSpPr>
          <p:cNvPr id="19" name="Text 16"/>
          <p:cNvSpPr/>
          <p:nvPr/>
        </p:nvSpPr>
        <p:spPr>
          <a:xfrm>
            <a:off x="476250" y="3000375"/>
            <a:ext cx="3571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 на GitHub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476250" y="3262313"/>
            <a:ext cx="2857500" cy="428625"/>
          </a:xfrm>
          <a:prstGeom prst="rect">
            <a:avLst/>
          </a:prstGeom>
          <a:noFill/>
          <a:ln/>
        </p:spPr>
      </p:sp>
      <p:sp>
        <p:nvSpPr>
          <p:cNvPr id="21" name="Shape 18"/>
          <p:cNvSpPr/>
          <p:nvPr/>
        </p:nvSpPr>
        <p:spPr>
          <a:xfrm>
            <a:off x="476250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</a:t>
            </a:r>
            <a:endParaRPr lang="en-US" sz="1318" dirty="0"/>
          </a:p>
        </p:txBody>
      </p:sp>
      <p:sp>
        <p:nvSpPr>
          <p:cNvPr id="23" name="Shape 20"/>
          <p:cNvSpPr/>
          <p:nvPr/>
        </p:nvSpPr>
        <p:spPr>
          <a:xfrm>
            <a:off x="1152525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24" name="Text 21"/>
          <p:cNvSpPr/>
          <p:nvPr/>
        </p:nvSpPr>
        <p:spPr>
          <a:xfrm>
            <a:off x="1247775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</a:t>
            </a:r>
            <a:endParaRPr lang="en-US" sz="1318" dirty="0"/>
          </a:p>
        </p:txBody>
      </p:sp>
      <p:sp>
        <p:nvSpPr>
          <p:cNvPr id="25" name="Text 22"/>
          <p:cNvSpPr/>
          <p:nvPr/>
        </p:nvSpPr>
        <p:spPr>
          <a:xfrm>
            <a:off x="3524250" y="2381250"/>
            <a:ext cx="135731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push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origin main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033" dirty="0"/>
          </a:p>
        </p:txBody>
      </p:sp>
      <p:sp>
        <p:nvSpPr>
          <p:cNvPr id="26" name="Text 23"/>
          <p:cNvSpPr/>
          <p:nvPr/>
        </p:nvSpPr>
        <p:spPr>
          <a:xfrm>
            <a:off x="5048250" y="2000250"/>
            <a:ext cx="3619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Локальная main</a:t>
            </a:r>
            <a:endParaRPr lang="en-US" sz="1140" dirty="0"/>
          </a:p>
        </p:txBody>
      </p:sp>
      <p:sp>
        <p:nvSpPr>
          <p:cNvPr id="27" name="Shape 24"/>
          <p:cNvSpPr/>
          <p:nvPr/>
        </p:nvSpPr>
        <p:spPr>
          <a:xfrm>
            <a:off x="5048250" y="2262188"/>
            <a:ext cx="2857500" cy="428625"/>
          </a:xfrm>
          <a:prstGeom prst="rect">
            <a:avLst/>
          </a:prstGeom>
          <a:noFill/>
          <a:ln/>
        </p:spPr>
      </p:sp>
      <p:sp>
        <p:nvSpPr>
          <p:cNvPr id="28" name="Shape 25"/>
          <p:cNvSpPr/>
          <p:nvPr/>
        </p:nvSpPr>
        <p:spPr>
          <a:xfrm>
            <a:off x="5048250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29" name="Text 26"/>
          <p:cNvSpPr/>
          <p:nvPr/>
        </p:nvSpPr>
        <p:spPr>
          <a:xfrm>
            <a:off x="5143500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</a:t>
            </a:r>
            <a:endParaRPr lang="en-US" sz="1318" dirty="0"/>
          </a:p>
        </p:txBody>
      </p:sp>
      <p:sp>
        <p:nvSpPr>
          <p:cNvPr id="30" name="Shape 27"/>
          <p:cNvSpPr/>
          <p:nvPr/>
        </p:nvSpPr>
        <p:spPr>
          <a:xfrm>
            <a:off x="5724525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31" name="Text 28"/>
          <p:cNvSpPr/>
          <p:nvPr/>
        </p:nvSpPr>
        <p:spPr>
          <a:xfrm>
            <a:off x="5819775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</a:t>
            </a:r>
            <a:endParaRPr lang="en-US" sz="1318" dirty="0"/>
          </a:p>
        </p:txBody>
      </p:sp>
      <p:sp>
        <p:nvSpPr>
          <p:cNvPr id="32" name="Shape 29"/>
          <p:cNvSpPr/>
          <p:nvPr/>
        </p:nvSpPr>
        <p:spPr>
          <a:xfrm>
            <a:off x="6400800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33" name="Text 30"/>
          <p:cNvSpPr/>
          <p:nvPr/>
        </p:nvSpPr>
        <p:spPr>
          <a:xfrm>
            <a:off x="6496050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</a:t>
            </a:r>
            <a:endParaRPr lang="en-US" sz="1318" dirty="0"/>
          </a:p>
        </p:txBody>
      </p:sp>
      <p:sp>
        <p:nvSpPr>
          <p:cNvPr id="34" name="Text 31"/>
          <p:cNvSpPr/>
          <p:nvPr/>
        </p:nvSpPr>
        <p:spPr>
          <a:xfrm>
            <a:off x="5048250" y="3000375"/>
            <a:ext cx="3619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 на GitHub</a:t>
            </a:r>
            <a:endParaRPr lang="en-US" sz="1140" dirty="0"/>
          </a:p>
        </p:txBody>
      </p:sp>
      <p:sp>
        <p:nvSpPr>
          <p:cNvPr id="35" name="Shape 32"/>
          <p:cNvSpPr/>
          <p:nvPr/>
        </p:nvSpPr>
        <p:spPr>
          <a:xfrm>
            <a:off x="5048250" y="3262313"/>
            <a:ext cx="2857500" cy="428625"/>
          </a:xfrm>
          <a:prstGeom prst="rect">
            <a:avLst/>
          </a:prstGeom>
          <a:noFill/>
          <a:ln/>
        </p:spPr>
      </p:sp>
      <p:sp>
        <p:nvSpPr>
          <p:cNvPr id="36" name="Shape 33"/>
          <p:cNvSpPr/>
          <p:nvPr/>
        </p:nvSpPr>
        <p:spPr>
          <a:xfrm>
            <a:off x="5048250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37" name="Text 34"/>
          <p:cNvSpPr/>
          <p:nvPr/>
        </p:nvSpPr>
        <p:spPr>
          <a:xfrm>
            <a:off x="5143500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</a:t>
            </a:r>
            <a:endParaRPr lang="en-US" sz="1318" dirty="0"/>
          </a:p>
        </p:txBody>
      </p:sp>
      <p:sp>
        <p:nvSpPr>
          <p:cNvPr id="38" name="Shape 35"/>
          <p:cNvSpPr/>
          <p:nvPr/>
        </p:nvSpPr>
        <p:spPr>
          <a:xfrm>
            <a:off x="5724525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39" name="Text 36"/>
          <p:cNvSpPr/>
          <p:nvPr/>
        </p:nvSpPr>
        <p:spPr>
          <a:xfrm>
            <a:off x="5819775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</a:t>
            </a:r>
            <a:endParaRPr lang="en-US" sz="1318" dirty="0"/>
          </a:p>
        </p:txBody>
      </p:sp>
      <p:sp>
        <p:nvSpPr>
          <p:cNvPr id="40" name="Shape 37"/>
          <p:cNvSpPr/>
          <p:nvPr/>
        </p:nvSpPr>
        <p:spPr>
          <a:xfrm>
            <a:off x="6400800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41" name="Text 38"/>
          <p:cNvSpPr/>
          <p:nvPr/>
        </p:nvSpPr>
        <p:spPr>
          <a:xfrm>
            <a:off x="6496050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</a:t>
            </a:r>
            <a:endParaRPr lang="en-US" sz="1318" dirty="0"/>
          </a:p>
        </p:txBody>
      </p:sp>
      <p:sp>
        <p:nvSpPr>
          <p:cNvPr id="42" name="Shape 39"/>
          <p:cNvSpPr/>
          <p:nvPr/>
        </p:nvSpPr>
        <p:spPr>
          <a:xfrm>
            <a:off x="476250" y="4095750"/>
            <a:ext cx="8191500" cy="409575"/>
          </a:xfrm>
          <a:prstGeom prst="roundRect">
            <a:avLst>
              <a:gd name="adj" fmla="val 40186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590550" y="4210050"/>
            <a:ext cx="79629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A, B, C — последовательные коммиты. push публикует C и обновляет серверную ветку; локальная версия C сохраняется.</a:t>
            </a:r>
            <a:endParaRPr lang="en-US" sz="114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2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меняется после git push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Новый локальный коммит не появляется на GitHub автоматически.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push; упрощённая схема линейной истории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 / 41</a:t>
            </a:r>
            <a:endParaRPr lang="en-US" sz="891" dirty="0"/>
          </a:p>
        </p:txBody>
      </p:sp>
      <p:sp>
        <p:nvSpPr>
          <p:cNvPr id="9" name="Text 6"/>
          <p:cNvSpPr/>
          <p:nvPr/>
        </p:nvSpPr>
        <p:spPr>
          <a:xfrm>
            <a:off x="476250" y="1666875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4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 ОТПРАВКИ</a:t>
            </a:r>
            <a:endParaRPr lang="en-US" sz="962" dirty="0"/>
          </a:p>
        </p:txBody>
      </p:sp>
      <p:sp>
        <p:nvSpPr>
          <p:cNvPr id="10" name="Text 7"/>
          <p:cNvSpPr/>
          <p:nvPr/>
        </p:nvSpPr>
        <p:spPr>
          <a:xfrm>
            <a:off x="5048250" y="1666875"/>
            <a:ext cx="361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4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ПОСЛЕ УСПЕШНОЙ ОТПРАВКИ</a:t>
            </a:r>
            <a:endParaRPr lang="en-US" sz="962" dirty="0"/>
          </a:p>
        </p:txBody>
      </p:sp>
      <p:sp>
        <p:nvSpPr>
          <p:cNvPr id="11" name="Text 8"/>
          <p:cNvSpPr/>
          <p:nvPr/>
        </p:nvSpPr>
        <p:spPr>
          <a:xfrm>
            <a:off x="476250" y="2000250"/>
            <a:ext cx="3571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Локальная main</a:t>
            </a:r>
            <a:endParaRPr lang="en-US" sz="1140" dirty="0"/>
          </a:p>
        </p:txBody>
      </p:sp>
      <p:sp>
        <p:nvSpPr>
          <p:cNvPr id="12" name="Shape 9"/>
          <p:cNvSpPr/>
          <p:nvPr/>
        </p:nvSpPr>
        <p:spPr>
          <a:xfrm>
            <a:off x="476250" y="2262188"/>
            <a:ext cx="2857500" cy="428625"/>
          </a:xfrm>
          <a:prstGeom prst="rect">
            <a:avLst/>
          </a:prstGeom>
          <a:noFill/>
          <a:ln/>
        </p:spPr>
      </p:sp>
      <p:sp>
        <p:nvSpPr>
          <p:cNvPr id="13" name="Shape 10"/>
          <p:cNvSpPr/>
          <p:nvPr/>
        </p:nvSpPr>
        <p:spPr>
          <a:xfrm>
            <a:off x="476250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</a:t>
            </a:r>
            <a:endParaRPr lang="en-US" sz="1318" dirty="0"/>
          </a:p>
        </p:txBody>
      </p:sp>
      <p:sp>
        <p:nvSpPr>
          <p:cNvPr id="15" name="Shape 12"/>
          <p:cNvSpPr/>
          <p:nvPr/>
        </p:nvSpPr>
        <p:spPr>
          <a:xfrm>
            <a:off x="1152525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16" name="Text 13"/>
          <p:cNvSpPr/>
          <p:nvPr/>
        </p:nvSpPr>
        <p:spPr>
          <a:xfrm>
            <a:off x="1247775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</a:t>
            </a:r>
            <a:endParaRPr lang="en-US" sz="1318" dirty="0"/>
          </a:p>
        </p:txBody>
      </p:sp>
      <p:sp>
        <p:nvSpPr>
          <p:cNvPr id="17" name="Shape 14"/>
          <p:cNvSpPr/>
          <p:nvPr/>
        </p:nvSpPr>
        <p:spPr>
          <a:xfrm>
            <a:off x="1828800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18" name="Text 15"/>
          <p:cNvSpPr/>
          <p:nvPr/>
        </p:nvSpPr>
        <p:spPr>
          <a:xfrm>
            <a:off x="1924050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</a:t>
            </a:r>
            <a:endParaRPr lang="en-US" sz="1318" dirty="0"/>
          </a:p>
        </p:txBody>
      </p:sp>
      <p:sp>
        <p:nvSpPr>
          <p:cNvPr id="19" name="Text 16"/>
          <p:cNvSpPr/>
          <p:nvPr/>
        </p:nvSpPr>
        <p:spPr>
          <a:xfrm>
            <a:off x="476250" y="3000375"/>
            <a:ext cx="3571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 на GitHub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476250" y="3262313"/>
            <a:ext cx="2857500" cy="428625"/>
          </a:xfrm>
          <a:prstGeom prst="rect">
            <a:avLst/>
          </a:prstGeom>
          <a:noFill/>
          <a:ln/>
        </p:spPr>
      </p:sp>
      <p:sp>
        <p:nvSpPr>
          <p:cNvPr id="21" name="Shape 18"/>
          <p:cNvSpPr/>
          <p:nvPr/>
        </p:nvSpPr>
        <p:spPr>
          <a:xfrm>
            <a:off x="476250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</a:t>
            </a:r>
            <a:endParaRPr lang="en-US" sz="1318" dirty="0"/>
          </a:p>
        </p:txBody>
      </p:sp>
      <p:sp>
        <p:nvSpPr>
          <p:cNvPr id="23" name="Shape 20"/>
          <p:cNvSpPr/>
          <p:nvPr/>
        </p:nvSpPr>
        <p:spPr>
          <a:xfrm>
            <a:off x="1152525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24" name="Text 21"/>
          <p:cNvSpPr/>
          <p:nvPr/>
        </p:nvSpPr>
        <p:spPr>
          <a:xfrm>
            <a:off x="1247775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</a:t>
            </a:r>
            <a:endParaRPr lang="en-US" sz="1318" dirty="0"/>
          </a:p>
        </p:txBody>
      </p:sp>
      <p:sp>
        <p:nvSpPr>
          <p:cNvPr id="25" name="Text 22"/>
          <p:cNvSpPr/>
          <p:nvPr/>
        </p:nvSpPr>
        <p:spPr>
          <a:xfrm>
            <a:off x="3524250" y="2381250"/>
            <a:ext cx="135731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push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origin main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033" dirty="0"/>
          </a:p>
        </p:txBody>
      </p:sp>
      <p:sp>
        <p:nvSpPr>
          <p:cNvPr id="26" name="Text 23"/>
          <p:cNvSpPr/>
          <p:nvPr/>
        </p:nvSpPr>
        <p:spPr>
          <a:xfrm>
            <a:off x="5048250" y="2000250"/>
            <a:ext cx="3619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Локальная main</a:t>
            </a:r>
            <a:endParaRPr lang="en-US" sz="1140" dirty="0"/>
          </a:p>
        </p:txBody>
      </p:sp>
      <p:sp>
        <p:nvSpPr>
          <p:cNvPr id="27" name="Shape 24"/>
          <p:cNvSpPr/>
          <p:nvPr/>
        </p:nvSpPr>
        <p:spPr>
          <a:xfrm>
            <a:off x="5048250" y="2262188"/>
            <a:ext cx="2857500" cy="428625"/>
          </a:xfrm>
          <a:prstGeom prst="rect">
            <a:avLst/>
          </a:prstGeom>
          <a:noFill/>
          <a:ln/>
        </p:spPr>
      </p:sp>
      <p:sp>
        <p:nvSpPr>
          <p:cNvPr id="28" name="Shape 25"/>
          <p:cNvSpPr/>
          <p:nvPr/>
        </p:nvSpPr>
        <p:spPr>
          <a:xfrm>
            <a:off x="5048250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29" name="Text 26"/>
          <p:cNvSpPr/>
          <p:nvPr/>
        </p:nvSpPr>
        <p:spPr>
          <a:xfrm>
            <a:off x="5143500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</a:t>
            </a:r>
            <a:endParaRPr lang="en-US" sz="1318" dirty="0"/>
          </a:p>
        </p:txBody>
      </p:sp>
      <p:sp>
        <p:nvSpPr>
          <p:cNvPr id="30" name="Shape 27"/>
          <p:cNvSpPr/>
          <p:nvPr/>
        </p:nvSpPr>
        <p:spPr>
          <a:xfrm>
            <a:off x="5724525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31" name="Text 28"/>
          <p:cNvSpPr/>
          <p:nvPr/>
        </p:nvSpPr>
        <p:spPr>
          <a:xfrm>
            <a:off x="5819775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</a:t>
            </a:r>
            <a:endParaRPr lang="en-US" sz="1318" dirty="0"/>
          </a:p>
        </p:txBody>
      </p:sp>
      <p:sp>
        <p:nvSpPr>
          <p:cNvPr id="32" name="Shape 29"/>
          <p:cNvSpPr/>
          <p:nvPr/>
        </p:nvSpPr>
        <p:spPr>
          <a:xfrm>
            <a:off x="6400800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33" name="Text 30"/>
          <p:cNvSpPr/>
          <p:nvPr/>
        </p:nvSpPr>
        <p:spPr>
          <a:xfrm>
            <a:off x="6496050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</a:t>
            </a:r>
            <a:endParaRPr lang="en-US" sz="1318" dirty="0"/>
          </a:p>
        </p:txBody>
      </p:sp>
      <p:sp>
        <p:nvSpPr>
          <p:cNvPr id="34" name="Text 31"/>
          <p:cNvSpPr/>
          <p:nvPr/>
        </p:nvSpPr>
        <p:spPr>
          <a:xfrm>
            <a:off x="5048250" y="3000375"/>
            <a:ext cx="3619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 на GitHub</a:t>
            </a:r>
            <a:endParaRPr lang="en-US" sz="1140" dirty="0"/>
          </a:p>
        </p:txBody>
      </p:sp>
      <p:sp>
        <p:nvSpPr>
          <p:cNvPr id="35" name="Shape 32"/>
          <p:cNvSpPr/>
          <p:nvPr/>
        </p:nvSpPr>
        <p:spPr>
          <a:xfrm>
            <a:off x="5048250" y="3262313"/>
            <a:ext cx="2857500" cy="428625"/>
          </a:xfrm>
          <a:prstGeom prst="rect">
            <a:avLst/>
          </a:prstGeom>
          <a:noFill/>
          <a:ln/>
        </p:spPr>
      </p:sp>
      <p:sp>
        <p:nvSpPr>
          <p:cNvPr id="36" name="Shape 33"/>
          <p:cNvSpPr/>
          <p:nvPr/>
        </p:nvSpPr>
        <p:spPr>
          <a:xfrm>
            <a:off x="5048250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37" name="Text 34"/>
          <p:cNvSpPr/>
          <p:nvPr/>
        </p:nvSpPr>
        <p:spPr>
          <a:xfrm>
            <a:off x="5143500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</a:t>
            </a:r>
            <a:endParaRPr lang="en-US" sz="1318" dirty="0"/>
          </a:p>
        </p:txBody>
      </p:sp>
      <p:sp>
        <p:nvSpPr>
          <p:cNvPr id="38" name="Shape 35"/>
          <p:cNvSpPr/>
          <p:nvPr/>
        </p:nvSpPr>
        <p:spPr>
          <a:xfrm>
            <a:off x="5724525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39" name="Text 36"/>
          <p:cNvSpPr/>
          <p:nvPr/>
        </p:nvSpPr>
        <p:spPr>
          <a:xfrm>
            <a:off x="5819775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</a:t>
            </a:r>
            <a:endParaRPr lang="en-US" sz="1318" dirty="0"/>
          </a:p>
        </p:txBody>
      </p:sp>
      <p:sp>
        <p:nvSpPr>
          <p:cNvPr id="40" name="Shape 37"/>
          <p:cNvSpPr/>
          <p:nvPr/>
        </p:nvSpPr>
        <p:spPr>
          <a:xfrm>
            <a:off x="6400800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41" name="Text 38"/>
          <p:cNvSpPr/>
          <p:nvPr/>
        </p:nvSpPr>
        <p:spPr>
          <a:xfrm>
            <a:off x="6496050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</a:t>
            </a:r>
            <a:endParaRPr lang="en-US" sz="1318" dirty="0"/>
          </a:p>
        </p:txBody>
      </p:sp>
      <p:sp>
        <p:nvSpPr>
          <p:cNvPr id="42" name="Shape 39"/>
          <p:cNvSpPr/>
          <p:nvPr/>
        </p:nvSpPr>
        <p:spPr>
          <a:xfrm>
            <a:off x="476250" y="4095750"/>
            <a:ext cx="8191500" cy="409575"/>
          </a:xfrm>
          <a:prstGeom prst="roundRect">
            <a:avLst>
              <a:gd name="adj" fmla="val 40186"/>
            </a:avLst>
          </a:prstGeom>
          <a:solidFill>
            <a:srgbClr val="DEF3F7"/>
          </a:solidFill>
          <a:ln/>
        </p:spPr>
      </p:sp>
      <p:sp>
        <p:nvSpPr>
          <p:cNvPr id="43" name="Text 40"/>
          <p:cNvSpPr/>
          <p:nvPr/>
        </p:nvSpPr>
        <p:spPr>
          <a:xfrm>
            <a:off x="590550" y="4210050"/>
            <a:ext cx="79629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A, B, C — последовательные коммиты. push публикует C и обновляет серверную ветку; локальная версия C сохраняется.</a:t>
            </a:r>
            <a:endParaRPr lang="en-US" sz="114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clone: получить готовый репозиторий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появится после clone: только файлы или также история? Нужен ли init?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Отдельный сценарий: откройте родительскую папку проектов. Подставьте URL опубликованного репозитория.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clone создаёт новую папку, получает файлы и историю, настраивает origin. Повторный init не нужен. Хеши совпадут с исходным репозиторием.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ВНЕ ИСХОДНОГО ПРОЕКТА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clone REPOSITORY_URL cs-fiit-copy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cs-fiit-copy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 -3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1052513"/>
          </a:xfrm>
          <a:prstGeom prst="roundRect">
            <a:avLst>
              <a:gd name="adj" fmla="val 15638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c39a2b0 Document project setup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clone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 / 41</a:t>
            </a:r>
            <a:endParaRPr lang="en-US" sz="891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clone: получить готовый репозиторий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Почему идентификаторы коммитов совпадают с исходным репозиторием?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Отдельный сценарий: откройте родительскую папку проектов. Подставьте URL опубликованного репозитория.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clone создаёт новую папку, получает файлы и историю, настраивает origin. Повторный init не нужен. Хеши совпадут с исходным репозиторием.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ВНЕ ИСХОДНОГО ПРОЕКТА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clone REPOSITORY_URL cs-fiit-copy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cs-fiit-copy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 -3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1052513"/>
          </a:xfrm>
          <a:prstGeom prst="roundRect">
            <a:avLst>
              <a:gd name="adj" fmla="val 15638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c39a2b0 Document project setup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clone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 / 41</a:t>
            </a:r>
            <a:endParaRPr lang="en-US" sz="891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clone: получить готовый репозиторий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clone создаёт новую локальную копию репозитория вместе с историей и настройкой origin.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Отдельный сценарий: откройте родительскую папку проектов. Подставьте URL опубликованного репозитория.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clone создаёт новую папку, получает файлы и историю, настраивает origin. Повторный init не нужен. Хеши совпадут с исходным репозиторием.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ВНЕ ИСХОДНОГО ПРОЕКТА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clone REPOSITORY_URL cs-fiit-copy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cs-fiit-copy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 -3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1052513"/>
          </a:xfrm>
          <a:prstGeom prst="roundRect">
            <a:avLst>
              <a:gd name="adj" fmla="val 15638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c39a2b0 Document project setup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clone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 / 41</a:t>
            </a:r>
            <a:endParaRPr lang="en-US" sz="891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pull: получить новые коммиты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 сервере нет новых коммитов. Какой результат ожидаем от pull?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клонированном проекте. Перед pull убедитесь, что status --short пуст. Здесь на сервере пока нет новых коммитов.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Этот вывод означает: получать нечего. Если серверная история продвинулась линейно, Git обновит файлы. При расхождении историй --ff-only остановится.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pull --ff-only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ПРИМЕР: ОБНОВЛЕНИЙ НЕТ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Already up to date.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pull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 / 41</a:t>
            </a:r>
            <a:endParaRPr lang="en-US" sz="891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pull: получить новые коммиты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означает Already up to date? Когда --ff-only остановится?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клонированном проекте. Перед pull убедитесь, что status --short пуст. Здесь на сервере пока нет новых коммитов.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Этот вывод означает: получать нечего. Если серверная история продвинулась линейно, Git обновит файлы. При расхождении историй --ff-only остановится.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pull --ff-only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ПРИМЕР: ОБНОВЛЕНИЙ НЕТ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Already up to date.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pull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 / 41</a:t>
            </a:r>
            <a:endParaRPr lang="en-US" sz="891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pull: получить новые коммиты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pull сначала получает данные, затем интегрирует их в текущую ветку.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клонированном проекте. Перед pull убедитесь, что status --short пуст. Здесь на сервере пока нет новых коммитов.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Этот вывод означает: получать нечего. Если серверная история продвинулась линейно, Git обновит файлы. При расхождении историй --ff-only остановится.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pull --ff-only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ПРИМЕР: ОБНОВЛЕНИЙ НЕТ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Already up to date.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pull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 / 41</a:t>
            </a:r>
            <a:endParaRPr lang="en-US" sz="891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ОБМЕН С GITHUB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Проверка первой публикации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Подтвердите результат в терминале и в интерфейсе GitHub.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9715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терминале проверьте статус и историю. На сайте откройте main.py и раздел коммитов.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29552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Совпадать должны содержимое последней версии и последовательность этапов работы.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028825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1023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Ожидаем: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коммита;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main.py;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README.md;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.gitignore.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3219450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Последний коммит описывает документацию.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 / 41</a:t>
            </a:r>
            <a:endParaRPr lang="en-US" sz="891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DEF3F7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ЗАКРЕПЛЕНИЕ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Типовые ситуации и диагностика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Сначала установите состояние проекта, затем выбирайте действие.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Сообщение Git относится к конкретной операции. Читайте его вместе с git status и текущей папкой.</a:t>
            </a:r>
            <a:endParaRPr lang="en-US" sz="1211" dirty="0"/>
          </a:p>
        </p:txBody>
      </p:sp>
      <p:sp>
        <p:nvSpPr>
          <p:cNvPr id="10" name="Shape 7"/>
          <p:cNvSpPr/>
          <p:nvPr/>
        </p:nvSpPr>
        <p:spPr>
          <a:xfrm>
            <a:off x="476250" y="2062163"/>
            <a:ext cx="8191500" cy="2176463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062163"/>
            <a:ext cx="8191500" cy="544116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090738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not a git repository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2876550" y="2090738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Откройте папку проекта, в которой создан или клонирован Git-репозиторий.</a:t>
            </a:r>
            <a:endParaRPr lang="en-US" sz="1069" dirty="0"/>
          </a:p>
        </p:txBody>
      </p:sp>
      <p:sp>
        <p:nvSpPr>
          <p:cNvPr id="14" name="Shape 11"/>
          <p:cNvSpPr/>
          <p:nvPr/>
        </p:nvSpPr>
        <p:spPr>
          <a:xfrm>
            <a:off x="476250" y="2606278"/>
            <a:ext cx="8191500" cy="544116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634853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nothing to commit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2876550" y="2634853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Проверьте сохранение файла, статус и наличие подготовленных правок.</a:t>
            </a:r>
            <a:endParaRPr lang="en-US" sz="1069" dirty="0"/>
          </a:p>
        </p:txBody>
      </p:sp>
      <p:sp>
        <p:nvSpPr>
          <p:cNvPr id="17" name="Shape 14"/>
          <p:cNvSpPr/>
          <p:nvPr/>
        </p:nvSpPr>
        <p:spPr>
          <a:xfrm>
            <a:off x="476250" y="3150394"/>
            <a:ext cx="8191500" cy="544116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3178969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remote origin already exists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2876550" y="3178969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Посмотрите git remote -v: имя уже настроено; не добавляйте его повторно.</a:t>
            </a:r>
            <a:endParaRPr lang="en-US" sz="1069" dirty="0"/>
          </a:p>
        </p:txBody>
      </p:sp>
      <p:sp>
        <p:nvSpPr>
          <p:cNvPr id="20" name="Shape 17"/>
          <p:cNvSpPr/>
          <p:nvPr/>
        </p:nvSpPr>
        <p:spPr>
          <a:xfrm>
            <a:off x="476250" y="3694509"/>
            <a:ext cx="8191500" cy="544116"/>
          </a:xfrm>
          <a:prstGeom prst="rect">
            <a:avLst/>
          </a:prstGeom>
          <a:noFill/>
          <a:ln/>
        </p:spPr>
      </p:sp>
      <p:sp>
        <p:nvSpPr>
          <p:cNvPr id="21" name="Text 18"/>
          <p:cNvSpPr/>
          <p:nvPr/>
        </p:nvSpPr>
        <p:spPr>
          <a:xfrm>
            <a:off x="590550" y="3723084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push rejected</a:t>
            </a:r>
            <a:endParaRPr lang="en-US" sz="1069" dirty="0"/>
          </a:p>
        </p:txBody>
      </p:sp>
      <p:sp>
        <p:nvSpPr>
          <p:cNvPr id="22" name="Text 19"/>
          <p:cNvSpPr/>
          <p:nvPr/>
        </p:nvSpPr>
        <p:spPr>
          <a:xfrm>
            <a:off x="2876550" y="3723084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Возможны расхождение истории или ограничения доступа. Прочитайте причину отказа.</a:t>
            </a:r>
            <a:endParaRPr lang="en-US" sz="1069" dirty="0"/>
          </a:p>
        </p:txBody>
      </p:sp>
      <p:sp>
        <p:nvSpPr>
          <p:cNvPr id="23" name="Text 20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4" name="Text 21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35 / 41</a:t>
            </a:r>
            <a:endParaRPr lang="en-US" sz="891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ЗАКРЕПЛЕНИЕ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Применение на практике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Результатом станет репозиторий с понятной историей развития небольшой программы.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9715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Первая пара: подготовка среды, модель Git, локальные status, add, commit.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29552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Вторая пара: GitHub, аутентификация, первая отправка и проверка публикации.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543050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1023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 защите: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ссылка на репозиторий;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три объяснимых коммита;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рабочая программа;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README с примером запуска.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Планы лекций ПМИ и ФИИТ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 / 41</a:t>
            </a:r>
            <a:endParaRPr lang="en-US" sz="891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ЗАКРЕПЛЕНИЕ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Контроль понимания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Сформулируйте ответы через состояние файлов, индекса и истории.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1049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1. Файл сохранён, но add не выполнен. Что изменилось?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0859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 После add файл изменён ещё раз. Какая версия войдёт в commit?</a:t>
            </a:r>
            <a:endParaRPr lang="en-US" sz="1283" dirty="0"/>
          </a:p>
        </p:txBody>
      </p:sp>
      <p:sp>
        <p:nvSpPr>
          <p:cNvPr id="12" name="Text 9"/>
          <p:cNvSpPr/>
          <p:nvPr/>
        </p:nvSpPr>
        <p:spPr>
          <a:xfrm>
            <a:off x="476250" y="2638425"/>
            <a:ext cx="466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 Можно ли сделать commit без интернета?</a:t>
            </a:r>
            <a:endParaRPr lang="en-US" sz="1283" dirty="0"/>
          </a:p>
        </p:txBody>
      </p:sp>
      <p:sp>
        <p:nvSpPr>
          <p:cNvPr id="13" name="Shape 10"/>
          <p:cNvSpPr/>
          <p:nvPr/>
        </p:nvSpPr>
        <p:spPr>
          <a:xfrm>
            <a:off x="5619750" y="1743075"/>
            <a:ext cx="3048000" cy="1490663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4" name="Text 11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5" name="Text 12"/>
          <p:cNvSpPr/>
          <p:nvPr/>
        </p:nvSpPr>
        <p:spPr>
          <a:xfrm>
            <a:off x="5762625" y="2119313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4. Чем commit отличается от push?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2400300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5. Когда выбирают init, а когда clone?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5762625" y="268128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6. Почему pull --ff-only может остановиться?</a:t>
            </a:r>
            <a:endParaRPr lang="en-US" sz="1247" dirty="0"/>
          </a:p>
        </p:txBody>
      </p:sp>
      <p:sp>
        <p:nvSpPr>
          <p:cNvPr id="18" name="Text 15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9" name="Text 16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37 / 41</a:t>
            </a:r>
            <a:endParaRPr lang="en-US" sz="891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DEF3F7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ЗАКРЕПЛЕНИЕ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Ответы и итоговая модель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Состояние проекта нужно проверять на каждом уровне.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9715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commit создаёт локальную запись истории; push передаёт коммиты в другой репозиторий. init начинает репозиторий из локальной папки; clone получает уже существующий.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pull --ff-only не объединяет разошедшиеся линии истории.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566863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Редактирование — рабочие файлы.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400300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add — подготовленное содержимое.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2681288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commit — локальная версия.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5762625" y="2962275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push — обмен с сервером.</a:t>
            </a:r>
            <a:endParaRPr lang="en-US" sz="1247" dirty="0"/>
          </a:p>
        </p:txBody>
      </p:sp>
      <p:sp>
        <p:nvSpPr>
          <p:cNvPr id="18" name="Text 15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9" name="Text 16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38 / 41</a:t>
            </a:r>
            <a:endParaRPr lang="en-US" sz="891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4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Три знакомые ошибки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Какая команда или действие пропущены в каждой из трёх ситуаций?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комикс · иллюстрация сгенерирована ИИ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 / 41</a:t>
            </a:r>
            <a:endParaRPr lang="en-US" sz="891" dirty="0"/>
          </a:p>
        </p:txBody>
      </p:sp>
      <p:sp>
        <p:nvSpPr>
          <p:cNvPr id="9" name="Shape 6"/>
          <p:cNvSpPr/>
          <p:nvPr/>
        </p:nvSpPr>
        <p:spPr>
          <a:xfrm>
            <a:off x="476250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«Сохранил. Значит, всё в Git»</a:t>
            </a:r>
            <a:endParaRPr lang="en-US" sz="114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1881187"/>
            <a:ext cx="2571750" cy="1905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6250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Сохранение меняет файл. Для новой версии нужны add и commit.</a:t>
            </a:r>
            <a:endParaRPr lang="en-US" sz="1069" dirty="0"/>
          </a:p>
        </p:txBody>
      </p:sp>
      <p:sp>
        <p:nvSpPr>
          <p:cNvPr id="13" name="Shape 9"/>
          <p:cNvSpPr/>
          <p:nvPr/>
        </p:nvSpPr>
        <p:spPr>
          <a:xfrm>
            <a:off x="3286125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4" name="Text 10"/>
          <p:cNvSpPr/>
          <p:nvPr/>
        </p:nvSpPr>
        <p:spPr>
          <a:xfrm>
            <a:off x="3286125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«После add чуть-чуть поправил»</a:t>
            </a:r>
            <a:endParaRPr lang="en-US" sz="114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86125" y="1881187"/>
            <a:ext cx="2571750" cy="1905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86125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Индекс не обновится сам. Повторите add, чтобы включить последнюю правку.</a:t>
            </a:r>
            <a:endParaRPr lang="en-US" sz="1069" dirty="0"/>
          </a:p>
        </p:txBody>
      </p:sp>
      <p:sp>
        <p:nvSpPr>
          <p:cNvPr id="17" name="Shape 12"/>
          <p:cNvSpPr/>
          <p:nvPr/>
        </p:nvSpPr>
        <p:spPr>
          <a:xfrm>
            <a:off x="6096000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8" name="Text 13"/>
          <p:cNvSpPr/>
          <p:nvPr/>
        </p:nvSpPr>
        <p:spPr>
          <a:xfrm>
            <a:off x="6096000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«Коммит есть. Где он на GitHub?»</a:t>
            </a:r>
            <a:endParaRPr lang="en-US" sz="114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6000" y="1881187"/>
            <a:ext cx="2571750" cy="1905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96000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commit работает локально. Отправка на сервер — отдельная команда push.</a:t>
            </a:r>
            <a:endParaRPr lang="en-US" sz="1069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4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Три знакомые ошибки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Объясните следующую ситуацию, прежде чем открывать подсказку.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комикс · иллюстрация сгенерирована ИИ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 / 41</a:t>
            </a:r>
            <a:endParaRPr lang="en-US" sz="891" dirty="0"/>
          </a:p>
        </p:txBody>
      </p:sp>
      <p:sp>
        <p:nvSpPr>
          <p:cNvPr id="9" name="Shape 6"/>
          <p:cNvSpPr/>
          <p:nvPr/>
        </p:nvSpPr>
        <p:spPr>
          <a:xfrm>
            <a:off x="476250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«Сохранил. Значит, всё в Git»</a:t>
            </a:r>
            <a:endParaRPr lang="en-US" sz="114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1881187"/>
            <a:ext cx="2571750" cy="1905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6250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Сохранение меняет файл. Для новой версии нужны add и commit.</a:t>
            </a:r>
            <a:endParaRPr lang="en-US" sz="1069" dirty="0"/>
          </a:p>
        </p:txBody>
      </p:sp>
      <p:sp>
        <p:nvSpPr>
          <p:cNvPr id="13" name="Shape 9"/>
          <p:cNvSpPr/>
          <p:nvPr/>
        </p:nvSpPr>
        <p:spPr>
          <a:xfrm>
            <a:off x="3286125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4" name="Text 10"/>
          <p:cNvSpPr/>
          <p:nvPr/>
        </p:nvSpPr>
        <p:spPr>
          <a:xfrm>
            <a:off x="3286125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«После add чуть-чуть поправил»</a:t>
            </a:r>
            <a:endParaRPr lang="en-US" sz="114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86125" y="1881187"/>
            <a:ext cx="2571750" cy="1905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86125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Индекс не обновится сам. Повторите add, чтобы включить последнюю правку.</a:t>
            </a:r>
            <a:endParaRPr lang="en-US" sz="1069" dirty="0"/>
          </a:p>
        </p:txBody>
      </p:sp>
      <p:sp>
        <p:nvSpPr>
          <p:cNvPr id="17" name="Shape 12"/>
          <p:cNvSpPr/>
          <p:nvPr/>
        </p:nvSpPr>
        <p:spPr>
          <a:xfrm>
            <a:off x="6096000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8" name="Text 13"/>
          <p:cNvSpPr/>
          <p:nvPr/>
        </p:nvSpPr>
        <p:spPr>
          <a:xfrm>
            <a:off x="6096000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«Коммит есть. Где он на GitHub?»</a:t>
            </a:r>
            <a:endParaRPr lang="en-US" sz="114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6000" y="1881187"/>
            <a:ext cx="2571750" cy="1905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96000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commit работает локально. Отправка на сервер — отдельная команда push.</a:t>
            </a:r>
            <a:endParaRPr lang="en-US" sz="1069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4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Три знакомые ошибки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Объясните следующую ситуацию, прежде чем открывать подсказку.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комикс · иллюстрация сгенерирована ИИ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 / 41</a:t>
            </a:r>
            <a:endParaRPr lang="en-US" sz="891" dirty="0"/>
          </a:p>
        </p:txBody>
      </p:sp>
      <p:sp>
        <p:nvSpPr>
          <p:cNvPr id="9" name="Shape 6"/>
          <p:cNvSpPr/>
          <p:nvPr/>
        </p:nvSpPr>
        <p:spPr>
          <a:xfrm>
            <a:off x="476250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«Сохранил. Значит, всё в Git»</a:t>
            </a:r>
            <a:endParaRPr lang="en-US" sz="114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1881187"/>
            <a:ext cx="2571750" cy="1905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6250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Сохранение меняет файл. Для новой версии нужны add и commit.</a:t>
            </a:r>
            <a:endParaRPr lang="en-US" sz="1069" dirty="0"/>
          </a:p>
        </p:txBody>
      </p:sp>
      <p:sp>
        <p:nvSpPr>
          <p:cNvPr id="13" name="Shape 9"/>
          <p:cNvSpPr/>
          <p:nvPr/>
        </p:nvSpPr>
        <p:spPr>
          <a:xfrm>
            <a:off x="3286125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4" name="Text 10"/>
          <p:cNvSpPr/>
          <p:nvPr/>
        </p:nvSpPr>
        <p:spPr>
          <a:xfrm>
            <a:off x="3286125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«После add чуть-чуть поправил»</a:t>
            </a:r>
            <a:endParaRPr lang="en-US" sz="114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86125" y="1881187"/>
            <a:ext cx="2571750" cy="1905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86125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Индекс не обновится сам. Повторите add, чтобы включить последнюю правку.</a:t>
            </a:r>
            <a:endParaRPr lang="en-US" sz="1069" dirty="0"/>
          </a:p>
        </p:txBody>
      </p:sp>
      <p:sp>
        <p:nvSpPr>
          <p:cNvPr id="17" name="Shape 12"/>
          <p:cNvSpPr/>
          <p:nvPr/>
        </p:nvSpPr>
        <p:spPr>
          <a:xfrm>
            <a:off x="6096000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8" name="Text 13"/>
          <p:cNvSpPr/>
          <p:nvPr/>
        </p:nvSpPr>
        <p:spPr>
          <a:xfrm>
            <a:off x="6096000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«Коммит есть. Где он на GitHub?»</a:t>
            </a:r>
            <a:endParaRPr lang="en-US" sz="114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6000" y="1881187"/>
            <a:ext cx="2571750" cy="1905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96000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commit работает локально. Отправка на сервер — отдельная команда push.</a:t>
            </a:r>
            <a:endParaRPr lang="en-US" sz="1069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4 ИЗ 4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Три знакомые ошибки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Узнали себя? Назовите действие, которого не хватает в каждой ситуации.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комикс · иллюстрация сгенерирована ИИ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 / 41</a:t>
            </a:r>
            <a:endParaRPr lang="en-US" sz="891" dirty="0"/>
          </a:p>
        </p:txBody>
      </p:sp>
      <p:sp>
        <p:nvSpPr>
          <p:cNvPr id="9" name="Shape 6"/>
          <p:cNvSpPr/>
          <p:nvPr/>
        </p:nvSpPr>
        <p:spPr>
          <a:xfrm>
            <a:off x="476250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«Сохранил. Значит, всё в Git»</a:t>
            </a:r>
            <a:endParaRPr lang="en-US" sz="114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1881187"/>
            <a:ext cx="2571750" cy="1905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6250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Сохранение меняет файл. Для новой версии нужны add и commit.</a:t>
            </a:r>
            <a:endParaRPr lang="en-US" sz="1069" dirty="0"/>
          </a:p>
        </p:txBody>
      </p:sp>
      <p:sp>
        <p:nvSpPr>
          <p:cNvPr id="13" name="Shape 9"/>
          <p:cNvSpPr/>
          <p:nvPr/>
        </p:nvSpPr>
        <p:spPr>
          <a:xfrm>
            <a:off x="3286125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4" name="Text 10"/>
          <p:cNvSpPr/>
          <p:nvPr/>
        </p:nvSpPr>
        <p:spPr>
          <a:xfrm>
            <a:off x="3286125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«После add чуть-чуть поправил»</a:t>
            </a:r>
            <a:endParaRPr lang="en-US" sz="114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86125" y="1881187"/>
            <a:ext cx="2571750" cy="1905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86125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Индекс не обновится сам. Повторите add, чтобы включить последнюю правку.</a:t>
            </a:r>
            <a:endParaRPr lang="en-US" sz="1069" dirty="0"/>
          </a:p>
        </p:txBody>
      </p:sp>
      <p:sp>
        <p:nvSpPr>
          <p:cNvPr id="17" name="Shape 12"/>
          <p:cNvSpPr/>
          <p:nvPr/>
        </p:nvSpPr>
        <p:spPr>
          <a:xfrm>
            <a:off x="6096000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8" name="Text 13"/>
          <p:cNvSpPr/>
          <p:nvPr/>
        </p:nvSpPr>
        <p:spPr>
          <a:xfrm>
            <a:off x="6096000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«Коммит есть. Где он на GitHub?»</a:t>
            </a:r>
            <a:endParaRPr lang="en-US" sz="114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6000" y="1881187"/>
            <a:ext cx="2571750" cy="1905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96000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commit работает локально. Отправка на сервер — отдельная команда push.</a:t>
            </a:r>
            <a:endParaRPr lang="en-US" sz="1069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ИСТОЧНИКИ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Источники: локальная работа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Официальная документация содержит точные определения команд и примеры.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1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Материал адаптирован к планам ПМИ и ФИИТ. Сквозные программы и разборы состояний разработаны для лекции.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476250" y="2052637"/>
            <a:ext cx="8191500" cy="2185988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052637"/>
            <a:ext cx="81915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081212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init</a:t>
            </a:r>
            <a:endParaRPr lang="en-US" sz="998" dirty="0"/>
          </a:p>
        </p:txBody>
      </p:sp>
      <p:sp>
        <p:nvSpPr>
          <p:cNvPr id="13" name="Text 10"/>
          <p:cNvSpPr/>
          <p:nvPr/>
        </p:nvSpPr>
        <p:spPr>
          <a:xfrm>
            <a:off x="3543300" y="2081212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https://git-scm.com/docs/git-init</a:t>
            </a:r>
            <a:endParaRPr lang="en-US" sz="891" dirty="0"/>
          </a:p>
        </p:txBody>
      </p:sp>
      <p:sp>
        <p:nvSpPr>
          <p:cNvPr id="14" name="Shape 11"/>
          <p:cNvSpPr/>
          <p:nvPr/>
        </p:nvSpPr>
        <p:spPr>
          <a:xfrm>
            <a:off x="476250" y="2416969"/>
            <a:ext cx="8191500" cy="364331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445544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</a:t>
            </a:r>
            <a:endParaRPr lang="en-US" sz="998" dirty="0"/>
          </a:p>
        </p:txBody>
      </p:sp>
      <p:sp>
        <p:nvSpPr>
          <p:cNvPr id="16" name="Text 13"/>
          <p:cNvSpPr/>
          <p:nvPr/>
        </p:nvSpPr>
        <p:spPr>
          <a:xfrm>
            <a:off x="3543300" y="2445544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https://git-scm.com/docs/git-add</a:t>
            </a:r>
            <a:endParaRPr lang="en-US" sz="891" dirty="0"/>
          </a:p>
        </p:txBody>
      </p:sp>
      <p:sp>
        <p:nvSpPr>
          <p:cNvPr id="17" name="Shape 14"/>
          <p:cNvSpPr/>
          <p:nvPr/>
        </p:nvSpPr>
        <p:spPr>
          <a:xfrm>
            <a:off x="476250" y="2781300"/>
            <a:ext cx="81915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2809875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status</a:t>
            </a:r>
            <a:endParaRPr lang="en-US" sz="998" dirty="0"/>
          </a:p>
        </p:txBody>
      </p:sp>
      <p:sp>
        <p:nvSpPr>
          <p:cNvPr id="19" name="Text 16"/>
          <p:cNvSpPr/>
          <p:nvPr/>
        </p:nvSpPr>
        <p:spPr>
          <a:xfrm>
            <a:off x="3543300" y="2809875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https://git-scm.com/docs/git-status</a:t>
            </a:r>
            <a:endParaRPr lang="en-US" sz="891" dirty="0"/>
          </a:p>
        </p:txBody>
      </p:sp>
      <p:sp>
        <p:nvSpPr>
          <p:cNvPr id="20" name="Shape 17"/>
          <p:cNvSpPr/>
          <p:nvPr/>
        </p:nvSpPr>
        <p:spPr>
          <a:xfrm>
            <a:off x="476250" y="3145631"/>
            <a:ext cx="8191500" cy="364331"/>
          </a:xfrm>
          <a:prstGeom prst="rect">
            <a:avLst/>
          </a:prstGeom>
          <a:noFill/>
          <a:ln/>
        </p:spPr>
      </p:sp>
      <p:sp>
        <p:nvSpPr>
          <p:cNvPr id="21" name="Text 18"/>
          <p:cNvSpPr/>
          <p:nvPr/>
        </p:nvSpPr>
        <p:spPr>
          <a:xfrm>
            <a:off x="590550" y="3174206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commit</a:t>
            </a:r>
            <a:endParaRPr lang="en-US" sz="998" dirty="0"/>
          </a:p>
        </p:txBody>
      </p:sp>
      <p:sp>
        <p:nvSpPr>
          <p:cNvPr id="22" name="Text 19"/>
          <p:cNvSpPr/>
          <p:nvPr/>
        </p:nvSpPr>
        <p:spPr>
          <a:xfrm>
            <a:off x="3543300" y="3174206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https://git-scm.com/docs/git-commit</a:t>
            </a:r>
            <a:endParaRPr lang="en-US" sz="891" dirty="0"/>
          </a:p>
        </p:txBody>
      </p:sp>
      <p:sp>
        <p:nvSpPr>
          <p:cNvPr id="23" name="Shape 20"/>
          <p:cNvSpPr/>
          <p:nvPr/>
        </p:nvSpPr>
        <p:spPr>
          <a:xfrm>
            <a:off x="476250" y="3509963"/>
            <a:ext cx="81915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590550" y="3538538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diff</a:t>
            </a:r>
            <a:endParaRPr lang="en-US" sz="998" dirty="0"/>
          </a:p>
        </p:txBody>
      </p:sp>
      <p:sp>
        <p:nvSpPr>
          <p:cNvPr id="25" name="Text 22"/>
          <p:cNvSpPr/>
          <p:nvPr/>
        </p:nvSpPr>
        <p:spPr>
          <a:xfrm>
            <a:off x="3543300" y="3538538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https://git-scm.com/docs/git-diff</a:t>
            </a:r>
            <a:endParaRPr lang="en-US" sz="891" dirty="0"/>
          </a:p>
        </p:txBody>
      </p:sp>
      <p:sp>
        <p:nvSpPr>
          <p:cNvPr id="26" name="Shape 23"/>
          <p:cNvSpPr/>
          <p:nvPr/>
        </p:nvSpPr>
        <p:spPr>
          <a:xfrm>
            <a:off x="476250" y="3874294"/>
            <a:ext cx="8191500" cy="364331"/>
          </a:xfrm>
          <a:prstGeom prst="rect">
            <a:avLst/>
          </a:prstGeom>
          <a:noFill/>
          <a:ln/>
        </p:spPr>
      </p:sp>
      <p:sp>
        <p:nvSpPr>
          <p:cNvPr id="27" name="Text 24"/>
          <p:cNvSpPr/>
          <p:nvPr/>
        </p:nvSpPr>
        <p:spPr>
          <a:xfrm>
            <a:off x="590550" y="3902869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log</a:t>
            </a:r>
            <a:endParaRPr lang="en-US" sz="998" dirty="0"/>
          </a:p>
        </p:txBody>
      </p:sp>
      <p:sp>
        <p:nvSpPr>
          <p:cNvPr id="28" name="Text 25"/>
          <p:cNvSpPr/>
          <p:nvPr/>
        </p:nvSpPr>
        <p:spPr>
          <a:xfrm>
            <a:off x="3543300" y="3902869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https://git-scm.com/docs/git-log</a:t>
            </a:r>
            <a:endParaRPr lang="en-US" sz="891" dirty="0"/>
          </a:p>
        </p:txBody>
      </p:sp>
      <p:sp>
        <p:nvSpPr>
          <p:cNvPr id="29" name="Text 26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30" name="Text 27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 / 41</a:t>
            </a:r>
            <a:endParaRPr lang="en-US" sz="891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ИСТОЧНИКИ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Источники: GitHub и обмен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 самостоятельной работе обращайтесь к справке конкретной команды.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1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Полные ссылки по всем разделам приведены в тексте лекции.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476250" y="2052637"/>
            <a:ext cx="8191500" cy="2185988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052637"/>
            <a:ext cx="81915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081212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branch</a:t>
            </a:r>
            <a:endParaRPr lang="en-US" sz="998" dirty="0"/>
          </a:p>
        </p:txBody>
      </p:sp>
      <p:sp>
        <p:nvSpPr>
          <p:cNvPr id="13" name="Text 10"/>
          <p:cNvSpPr/>
          <p:nvPr/>
        </p:nvSpPr>
        <p:spPr>
          <a:xfrm>
            <a:off x="3543300" y="2081212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https://git-scm.com/docs/git-branch</a:t>
            </a:r>
            <a:endParaRPr lang="en-US" sz="891" dirty="0"/>
          </a:p>
        </p:txBody>
      </p:sp>
      <p:sp>
        <p:nvSpPr>
          <p:cNvPr id="14" name="Shape 11"/>
          <p:cNvSpPr/>
          <p:nvPr/>
        </p:nvSpPr>
        <p:spPr>
          <a:xfrm>
            <a:off x="476250" y="2416969"/>
            <a:ext cx="8191500" cy="364331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445544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remote</a:t>
            </a:r>
            <a:endParaRPr lang="en-US" sz="998" dirty="0"/>
          </a:p>
        </p:txBody>
      </p:sp>
      <p:sp>
        <p:nvSpPr>
          <p:cNvPr id="16" name="Text 13"/>
          <p:cNvSpPr/>
          <p:nvPr/>
        </p:nvSpPr>
        <p:spPr>
          <a:xfrm>
            <a:off x="3543300" y="2445544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https://git-scm.com/docs/git-remote</a:t>
            </a:r>
            <a:endParaRPr lang="en-US" sz="891" dirty="0"/>
          </a:p>
        </p:txBody>
      </p:sp>
      <p:sp>
        <p:nvSpPr>
          <p:cNvPr id="17" name="Shape 14"/>
          <p:cNvSpPr/>
          <p:nvPr/>
        </p:nvSpPr>
        <p:spPr>
          <a:xfrm>
            <a:off x="476250" y="2781300"/>
            <a:ext cx="81915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2809875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clone</a:t>
            </a:r>
            <a:endParaRPr lang="en-US" sz="998" dirty="0"/>
          </a:p>
        </p:txBody>
      </p:sp>
      <p:sp>
        <p:nvSpPr>
          <p:cNvPr id="19" name="Text 16"/>
          <p:cNvSpPr/>
          <p:nvPr/>
        </p:nvSpPr>
        <p:spPr>
          <a:xfrm>
            <a:off x="3543300" y="2809875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https://git-scm.com/docs/git-clone</a:t>
            </a:r>
            <a:endParaRPr lang="en-US" sz="891" dirty="0"/>
          </a:p>
        </p:txBody>
      </p:sp>
      <p:sp>
        <p:nvSpPr>
          <p:cNvPr id="20" name="Shape 17"/>
          <p:cNvSpPr/>
          <p:nvPr/>
        </p:nvSpPr>
        <p:spPr>
          <a:xfrm>
            <a:off x="476250" y="3145631"/>
            <a:ext cx="8191500" cy="364331"/>
          </a:xfrm>
          <a:prstGeom prst="rect">
            <a:avLst/>
          </a:prstGeom>
          <a:noFill/>
          <a:ln/>
        </p:spPr>
      </p:sp>
      <p:sp>
        <p:nvSpPr>
          <p:cNvPr id="21" name="Text 18"/>
          <p:cNvSpPr/>
          <p:nvPr/>
        </p:nvSpPr>
        <p:spPr>
          <a:xfrm>
            <a:off x="590550" y="3174206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push</a:t>
            </a:r>
            <a:endParaRPr lang="en-US" sz="998" dirty="0"/>
          </a:p>
        </p:txBody>
      </p:sp>
      <p:sp>
        <p:nvSpPr>
          <p:cNvPr id="22" name="Text 19"/>
          <p:cNvSpPr/>
          <p:nvPr/>
        </p:nvSpPr>
        <p:spPr>
          <a:xfrm>
            <a:off x="3543300" y="3174206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https://git-scm.com/docs/git-push</a:t>
            </a:r>
            <a:endParaRPr lang="en-US" sz="891" dirty="0"/>
          </a:p>
        </p:txBody>
      </p:sp>
      <p:sp>
        <p:nvSpPr>
          <p:cNvPr id="23" name="Shape 20"/>
          <p:cNvSpPr/>
          <p:nvPr/>
        </p:nvSpPr>
        <p:spPr>
          <a:xfrm>
            <a:off x="476250" y="3509963"/>
            <a:ext cx="81915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590550" y="3538538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pull</a:t>
            </a:r>
            <a:endParaRPr lang="en-US" sz="998" dirty="0"/>
          </a:p>
        </p:txBody>
      </p:sp>
      <p:sp>
        <p:nvSpPr>
          <p:cNvPr id="25" name="Text 22"/>
          <p:cNvSpPr/>
          <p:nvPr/>
        </p:nvSpPr>
        <p:spPr>
          <a:xfrm>
            <a:off x="3543300" y="3538538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https://git-scm.com/docs/git-pull</a:t>
            </a:r>
            <a:endParaRPr lang="en-US" sz="891" dirty="0"/>
          </a:p>
        </p:txBody>
      </p:sp>
      <p:sp>
        <p:nvSpPr>
          <p:cNvPr id="26" name="Shape 23"/>
          <p:cNvSpPr/>
          <p:nvPr/>
        </p:nvSpPr>
        <p:spPr>
          <a:xfrm>
            <a:off x="476250" y="3874294"/>
            <a:ext cx="8191500" cy="364331"/>
          </a:xfrm>
          <a:prstGeom prst="rect">
            <a:avLst/>
          </a:prstGeom>
          <a:noFill/>
          <a:ln/>
        </p:spPr>
      </p:sp>
      <p:sp>
        <p:nvSpPr>
          <p:cNvPr id="27" name="Text 24"/>
          <p:cNvSpPr/>
          <p:nvPr/>
        </p:nvSpPr>
        <p:spPr>
          <a:xfrm>
            <a:off x="590550" y="3902869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 · удалённые репозитории</a:t>
            </a:r>
            <a:endParaRPr lang="en-US" sz="998" dirty="0"/>
          </a:p>
        </p:txBody>
      </p:sp>
      <p:sp>
        <p:nvSpPr>
          <p:cNvPr id="28" name="Text 25"/>
          <p:cNvSpPr/>
          <p:nvPr/>
        </p:nvSpPr>
        <p:spPr>
          <a:xfrm>
            <a:off x="3543300" y="3902869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https://docs.github.com/en/get-started/git-basics/about-remote-repositories</a:t>
            </a:r>
            <a:endParaRPr lang="en-US" sz="891" dirty="0"/>
          </a:p>
        </p:txBody>
      </p:sp>
      <p:sp>
        <p:nvSpPr>
          <p:cNvPr id="29" name="Text 26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30" name="Text 27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 / 41</a:t>
            </a:r>
            <a:endParaRPr lang="en-US" sz="89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2026-09-08T10:26:01Z</dcterms:created>
  <dcterms:modified xsi:type="dcterms:W3CDTF">2026-09-08T10:26:01Z</dcterms:modified>
</cp:coreProperties>
</file>