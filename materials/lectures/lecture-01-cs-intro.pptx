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embeddedFontLst>
    <p:embeddedFont>
      <p:font typeface="PT Sans"/>
      <p:regular r:id="rId43"/>
    </p:embeddedFont>
    <p:embeddedFont>
      <p:font typeface="PT Serif"/>
      <p:regular r:id="rId44"/>
    </p:embeddedFont>
    <p:embeddedFont>
      <p:font typeface="IBM Plex Mono"/>
      <p:regular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rId43.fntdata"/><Relationship Id="rId44" Type="http://schemas.openxmlformats.org/officeDocument/2006/relationships/font" Target="fonts/rId44.fntdata"/><Relationship Id="rId45" Type="http://schemas.openxmlformats.org/officeDocument/2006/relationships/font" Target="fonts/rId4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курса ПМИ и ФИИТ
Планы лекций ПМИ / ФИИТ, предоставленные преподавателем
https://merch.sfedu.ru/1
[/Sources]
Иллюстрация создана для лекции с помощью генерации изображений.
Официальная эмблема ЮФУ: https://merch.sfedu.ru/1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https://cs50.harvard.edu/x/notes/0/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курса ПМИ и ФИИТ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https://pages.cs.wisc.edu/~remzi/OSTEP/intro.pdf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https://cs50.harvard.edu/x/notes/3/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https://cs50.harvard.edu/x/notes/0/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https://developer.mozilla.org/en-US/docs/Web/API/Canvas_API/Tutorial/Pixel_manipulation_with_canvas
Авторские учебные примеры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https://pages.cs.wisc.edu/~remzi/OSTEP/intro.pdf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https://docs.python.org/3/reference/executionmodel.html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https://docs.python.org/3/reference/executionmodel.html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https://docs.python.org/3/tutorial/introduction.html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https://docs.python.org/3/library/functions.html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https://docs.python.org/3/tutorial/inputoutput.html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309563"/>
            <a:ext cx="3667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ЮЖНЫЙ ФЕДЕРАЛЬНЫЙ</a:t>
            </a:r>
            <a:endParaRPr lang="en-US" sz="1033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УНИВЕРСИТЕТ</a:t>
            </a:r>
            <a:endParaRPr lang="en-US" sz="103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85750"/>
            <a:ext cx="457200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262063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17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ЛЕКЦИЯ 01 / ПМИ</a:t>
            </a:r>
            <a:endParaRPr lang="en-US" sz="1176" dirty="0"/>
          </a:p>
        </p:txBody>
      </p:sp>
      <p:sp>
        <p:nvSpPr>
          <p:cNvPr id="8" name="Text 4"/>
          <p:cNvSpPr/>
          <p:nvPr/>
        </p:nvSpPr>
        <p:spPr>
          <a:xfrm>
            <a:off x="476250" y="1714500"/>
            <a:ext cx="45243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Введение в</a:t>
            </a:r>
            <a:endParaRPr lang="en-US" sz="3349" dirty="0"/>
          </a:p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Science</a:t>
            </a:r>
            <a:endParaRPr lang="en-US" sz="3349" dirty="0"/>
          </a:p>
        </p:txBody>
      </p:sp>
      <p:sp>
        <p:nvSpPr>
          <p:cNvPr id="9" name="Text 5"/>
          <p:cNvSpPr/>
          <p:nvPr/>
        </p:nvSpPr>
        <p:spPr>
          <a:xfrm>
            <a:off x="476250" y="2976563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Вычисления, данные</a:t>
            </a:r>
            <a:endParaRPr lang="en-US" sz="1888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 программы</a:t>
            </a:r>
            <a:endParaRPr lang="en-US" sz="1888" dirty="0"/>
          </a:p>
        </p:txBody>
      </p:sp>
      <p:sp>
        <p:nvSpPr>
          <p:cNvPr id="10" name="Text 6"/>
          <p:cNvSpPr/>
          <p:nvPr/>
        </p:nvSpPr>
        <p:spPr>
          <a:xfrm>
            <a:off x="476250" y="3833812"/>
            <a:ext cx="4048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формальная задача превращается в результат, который можно объяснить и проверить.</a:t>
            </a:r>
            <a:endParaRPr lang="en-US" sz="124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95875" y="904875"/>
            <a:ext cx="3571875" cy="3571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39</a:t>
            </a:r>
            <a:endParaRPr lang="en-US" sz="89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изучает Computer Science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Computer Science — наука о вычислениях и способах автоматической обработки информации.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Вычисление — преобразование представленных данных по заданным правилам. CS исследует, какие задачи допускают такое решение, как описывать методы решения и сколько ресурсов им требуется.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Программирование — практический способ выразить метод на языке, понятном вычислительной системе. Знание синтаксиса необходимо, но само по себе не объясняет, почему решение правильно.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03358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81675" y="1905000"/>
            <a:ext cx="2724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81675" y="2181225"/>
            <a:ext cx="2724150" cy="14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Задача: найти запись студента по номеру.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Нужно выбрать представление записей, метод поиска и способ проверки ответа. Код появляется после этих решений.</a:t>
            </a:r>
            <a:endParaRPr lang="en-US" sz="1247" dirty="0"/>
          </a:p>
        </p:txBody>
      </p:sp>
      <p:sp>
        <p:nvSpPr>
          <p:cNvPr id="15" name="Shape 12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Предмет CS шире написания кода: он включает данные, методы и системы.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39</a:t>
            </a:r>
            <a:endParaRPr lang="en-US" sz="89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Основные области CS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Области различаются вопросами, которые они задают об одной вычислительной задаче.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Рассмотрим сервис, который принимает результаты измерений и строит отчёт. Его работа опирается сразу на несколько областей.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Алгоритмы и теория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найти результат? Как растут затраты при увеличении данных?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5366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8224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Архитектура и ОС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8224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выполняются команды и кто распределяет память и процессор?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04990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07848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Базы данных и сети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07848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хранить измерения и передавать их между компьютерами?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44614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47472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Программная инженерия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47472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изменять программу, проверять её и работать совместно?</a:t>
            </a:r>
            <a:endParaRPr lang="en-US" sz="1069" dirty="0"/>
          </a:p>
        </p:txBody>
      </p:sp>
      <p:sp>
        <p:nvSpPr>
          <p:cNvPr id="23" name="Shape 20"/>
          <p:cNvSpPr/>
          <p:nvPr/>
        </p:nvSpPr>
        <p:spPr>
          <a:xfrm>
            <a:off x="476250" y="384238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87096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данных и ИИ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2876550" y="387096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выявлять закономерности и строить модели по наблюдениям?</a:t>
            </a:r>
            <a:endParaRPr lang="en-US" sz="1069" dirty="0"/>
          </a:p>
        </p:txBody>
      </p:sp>
      <p:sp>
        <p:nvSpPr>
          <p:cNvPr id="26" name="Shape 23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27" name="Text 24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этом курсе связываем программирование с обработкой данных и инструментами разработки.</a:t>
            </a:r>
            <a:endParaRPr lang="en-US" sz="1069" dirty="0"/>
          </a:p>
        </p:txBody>
      </p:sp>
      <p:sp>
        <p:nvSpPr>
          <p:cNvPr id="28" name="Text 2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39</a:t>
            </a:r>
            <a:endParaRPr lang="en-US" sz="89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Алгоритмы: как получить ответ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Алгоритмическая задача описывает требуемый результат; алгоритм задаёт способ его получения.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Пусть нужно найти максимальную температуру за день. Данные — последовательность измерений. Результат — наибольшее из них.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Можно запомнить первое значение и сравнивать с ним остальные. Если очередное значение больше, заменить запомненное. После последнего сравнения останется максимум. Так описание задачи превращается в точную процедуру.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900238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Измерения: 18, 21, 19.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максимум = 18.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21 &gt; 18 → максимум = 21.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19 &gt; 21 неверно → оставляем 21.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Ответ: 21. Для отрицательных температур правило такое же.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39</a:t>
            </a:r>
            <a:endParaRPr lang="en-US" sz="89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Архитектура и ОС: где выполняется код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Архитектура описывает устройство вычислительной системы, а операционная система управляет её ресурсами.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Процессор выполняет машинные инструкции. Оперативная память хранит активные значения, накопитель — сохранённые файлы.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Операционная система создаёт процессы, выделяет им ресурсы и предоставляет доступ к файлам и устройствам. Поэтому программа может запросить чтение файла, не управляя электронными схемами накопителя напрямую.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Запускаем расчёт среднего: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ОС запускает Python.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Python читает файл программы.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Значения обрабатываются в памяти.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Результат передаётся на вывод.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50043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результат нужен после завершения, его сохраняют в файл.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39</a:t>
            </a:r>
            <a:endParaRPr lang="en-US" sz="89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Сети: как программы обмениваются данными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Компьютерная сеть позволяет программам на разных устройствах передавать сообщения.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Клиент обращается к сервису, а сервер принимает запрос и формирует ответ. Это роли программ: одно устройство может выполнять несколько ролей.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Протокол устанавливает правила обмена: как записан запрос, что означает ответ и как распознать ошибку. Без общих правил получатель не сможет правильно интерпретировать переданные данные.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Приложение запрашивает погоду.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Клиент передаёт название города.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Сервер возвращает температуру и единицы измерения.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Клиент показывает результат.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Число 25 без указания °C или °F недостаточно для правильного отображения.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39</a:t>
            </a:r>
            <a:endParaRPr lang="en-US" sz="8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Базы данных: как хранить связанные факты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База данных организует сведения так, чтобы их можно было находить, обновлять и связывать.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Например, у измерения есть время, идентификатор датчика и значение. Система управления базой данных принимает запросы к этим сведениям.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Запрос «найти все измерения датчика 17 за сегодня» задаёт условие отбора. Организация хранения влияет на скорость поиска и на возможность согласованно изменять данные.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5146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 измерения: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датчик: 17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время: 12:30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температура: 21.5 °C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301466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 о датчике: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номер: 17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помещение: лаборатория 204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705225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Общий номер связывает измерение с местом наблюдения.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39</a:t>
            </a:r>
            <a:endParaRPr lang="en-US" sz="89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Анализ данных и машинное обучение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данных помогает описывать наблюдения; машинное обучение строит модели по примерам.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Среднее значение, график и поиск необычных наблюдений — способы анализа данных. Для них важно понимать источник измерений и смысл показателей.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машинном обучении параметры модели настраиваются по обучающим данным. Качество проверяют на данных, не использованных для подгонки: запоминание примеров не гарантирует правильный прогноз.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Анализ: посчитать среднюю температуру за сутки.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Обучение: по прошлым наблюдениям подобрать модель прогноза следующего значения.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обоих случаях ошибка единиц или неполные данные могут испортить результат ещё до запуска метода.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39</a:t>
            </a:r>
            <a:endParaRPr lang="en-US" sz="89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Программная инженерия: как развивать решение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Программная инженерия занимается созданием, проверкой и сопровождением программных систем.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Работа продолжается после первого успешного запуска. Требования меняются, появляются ошибки, а код читают другие люди. Поэтому нужны понятные интерфейсы, тесты, документация и история изменений.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Тест фиксирует проверяемое ожидание. Контроль версий позволяет установить, что изменилось. Документация объясняет, как пользоваться решением и какие у него ограничения.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719388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Было: программа обрабатывает один датчик.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Стало: требуется обработать десять.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Нужно уточнить формат входа, изменить реализацию, проверить прежние случаи и описать новый запуск.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705225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Git, тестирование и работа с файлами помогают организовать эти изменения.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39</a:t>
            </a:r>
            <a:endParaRPr lang="en-US" sz="89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задача превращается в программу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понимаем, что нужно найти, затем записываем действия на Python.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Возьмём знакомую задачу: найти площадь прямоугольника. Для решения нужны ширина и высота. Правило вычисления — умножить их.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 описывает шаги решения словами. Программа записывает эти шаги на языке программирования. Один и тот же способ работает для разных размеров.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0288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Задача: найти площадь.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Данные: ширина 3 м, высота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Правило: 3 × 4 = 12 м².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Шаги: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Получить ширину и высоту.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Перемножить значения.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Показать площадь.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39</a:t>
            </a:r>
            <a:endParaRPr lang="en-US" sz="89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Алгоритм задаёт точные действия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Алгоритм решения задачи — однозначно описанная процедура, приводящая к требуемому результату.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вычислительной задачи задают допустимые входы и ожидаемый выход. Каждый шаг должен быть выполнимым, а процедура получения ответа — завершаться на допустимом входе.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Псевдокод описывает действия без привязки к синтаксису языка. Он удобен для проверки логики до программирования.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2383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81675" y="1905000"/>
            <a:ext cx="2724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Псевдокод и его исполнение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81675" y="2181225"/>
            <a:ext cx="27241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Найти большее из двух чисел a и b: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Прочитать a и b.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Если a ≥ b, выбрать a.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Иначе выбрать b.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Вывести выбранное число.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a = −3 и b = −7 ответ −3.</a:t>
            </a:r>
            <a:endParaRPr lang="en-US" sz="1247" dirty="0"/>
          </a:p>
        </p:txBody>
      </p:sp>
      <p:sp>
        <p:nvSpPr>
          <p:cNvPr id="15" name="Shape 12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Фраза «выбрать лучшее число» неоднозначна; сравнение a ≥ b задаёт проверяемое правило.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39</a:t>
            </a:r>
            <a:endParaRPr lang="en-US" sz="89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данные получает программа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Условие задачи должно объяснять, что вводить и какой результат ожидать.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площади прямоугольника нужны два числа: ширина и высота. Обе длины должны быть выражены в одной единице, например в метрах.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Договоримся вводить каждое число отдельной строкой. Программа прочитает их, выполнит умножение и покажет площадь. Такая договорённость помогает запускать программу без догадок.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строка: 3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Вторая строка: 4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Ширина — 3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Высота —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 — 12 м².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ширина задана в сантиметрах, сначала переведите её в ту же единицу, что и высота.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39</a:t>
            </a:r>
            <a:endParaRPr lang="en-US" sz="89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Данные получают смысл из контекста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— зафиксированное представление значений, объектов или событий.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Одна последовательность знаков может обозначать число, идентификатор или текст. Интерпретацию определяют схема данных, единицы измерения и правила обработки.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должна сохранять этот смысл при преобразованиях. Автоматическое превращение любого похожего текста в число может уничтожить существенную информацию.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«0017» — номер студента: ведущие нули могут быть частью идентификатора.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809875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«17» — количество измерений: с ним выполняют арифметику.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2956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«17 °C» — значение с единицей: перед вычислением нужно отделить число и установить шкалу.</a:t>
            </a:r>
            <a:endParaRPr lang="en-US" sz="1247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Выбор типа данных начинается со смысла величины, а не с её внешнего вида.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39</a:t>
            </a:r>
            <a:endParaRPr lang="en-US" sz="89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ОСНОВЫ COMPUTER SCIENCE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задаёт действия, данные — значения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отвечают на вопрос «с чем работаем», а программа — «что с этим делаем».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Рассмотрим вычисление площади прямоугольника. Ширина и высота — входные данные, умножение — действие, площадь — выходные данные.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 и тот же код можно выполнять для разных размеров. Программа не должна подменять вычисление заранее записанным ответом, который верен только для одного примера.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30981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Вход: ширина 3 м, высота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Правило: площадь = ширина × высота.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Выход: 12 м².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30146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Другой вход: 5 м и 4 м.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Тот же способ вычисления даёт 20 м².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50043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Изменились данные, а правило осталось прежним.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39</a:t>
            </a:r>
            <a:endParaRPr lang="en-US" sz="89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Вход, промежуточные значения и выход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 время работы данные проходят несколько представлений и этапов обработки.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Человек вводит текст «3». Чтобы умножить это значение на число, программа преобразует текст в число 3.0. После расчёта число превращается в текст для вывода.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Промежуточные значения нужны для вычисления, но не обязательно выводятся пользователю. Разбор этих значений помогает понять, где возникла ошибка.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46221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Текст ввода: "3" и "4".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Числа после преобразования: 3.0 и 4.0.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886075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Вычисленная площадь: 12.0.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316706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Текст на экране: "12.0".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5762625" y="3448050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Внешне число и строка могут выглядеть одинаково; допустимые операции у них разные.</a:t>
            </a:r>
            <a:endParaRPr lang="en-US" sz="1247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39</a:t>
            </a:r>
            <a:endParaRPr lang="en-US" sz="89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Бит и байт: единицы представления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Бит имеет два возможных значения: 0 и 1. Байт состоит из восьми битов.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n бит существует 2ⁿ различных комбинаций. Поэтому 8 бит позволяют закодировать 256 вариантов.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договориться трактовать байт как беззнаковое целое число, получим диапазон от 0 до 255. Это одна из интерпретаций: тот же байт может быть частью текста, изображения или команды.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843088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Расчёт числа состояний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бита → 4 комбинации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00 · 01 · 10 · 11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5762625" y="2586038"/>
            <a:ext cx="27622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бит → 256 комбинаций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5762625" y="2857500"/>
            <a:ext cx="2762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Чтобы различать 300 состояний, нужно не менее 9 бит: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2⁸ &lt; 300 ≤ 2⁹.</a:t>
            </a:r>
            <a:endParaRPr lang="en-US" sz="1211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кодовых комбинаций не определяет их смысл: нужна договорённость о кодировании.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39</a:t>
            </a:r>
            <a:endParaRPr lang="en-US" sz="89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читать двоичное число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позиционной системе вклад цифры зависит от её разряда.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286250" y="1743075"/>
            <a:ext cx="438150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286250" y="1743075"/>
            <a:ext cx="4381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десятичной записи веса разрядов равны степеням 10, в двоичной — степеням 2. Разряды нумеруют справа налево, начиная с нуля.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286250" y="2505075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Чтобы перевести двоичную запись в десятичное число, складывают веса тех разрядов, в которых стоит единица.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76250" y="1743075"/>
            <a:ext cx="3381375" cy="1938337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619125" y="1885950"/>
            <a:ext cx="3095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Разобранный пример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619125" y="2119313"/>
            <a:ext cx="30956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Разряд     4   3   2   1   0</a:t>
            </a:r>
            <a:endParaRPr lang="en-US" sz="998" dirty="0"/>
          </a:p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Цифра      1   0   1   1   0</a:t>
            </a:r>
            <a:endParaRPr lang="en-US" sz="998" dirty="0"/>
          </a:p>
          <a:p>
            <a:pPr algn="l" indent="0" marL="0">
              <a:lnSpc>
                <a:spcPts val="121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Вес       16   8   4   2   1</a:t>
            </a:r>
            <a:endParaRPr lang="en-US" sz="998" dirty="0"/>
          </a:p>
        </p:txBody>
      </p:sp>
      <p:sp>
        <p:nvSpPr>
          <p:cNvPr id="15" name="Text 12"/>
          <p:cNvSpPr/>
          <p:nvPr/>
        </p:nvSpPr>
        <p:spPr>
          <a:xfrm>
            <a:off x="619125" y="2681288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10110₂ = 16 + 4 + 2 = 22₁₀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619125" y="2952750"/>
            <a:ext cx="309562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Обратная проверка: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22 = 16 + 4 + 2, поэтому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разряды 16, 4 и 2 равны 1.</a:t>
            </a:r>
            <a:endParaRPr lang="en-US" sz="1211" dirty="0"/>
          </a:p>
        </p:txBody>
      </p:sp>
      <p:sp>
        <p:nvSpPr>
          <p:cNvPr id="17" name="Shape 14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8" name="Text 15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Начальные нули не меняют числовое значение: 00010110₂ также равно 22.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39</a:t>
            </a:r>
            <a:endParaRPr lang="en-US" sz="89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компьютер хранит текст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Буквы, цифры и знаки представляются в компьютере с помощью числовых кодов.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Кодировка — правило, по которому текст записывают в виде байтов и читают обратно. Распространённая кодировка UTF-8 позволяет хранить текст на разных языках.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букв и количество байтов могут различаться. Для начала важно помнить: текстовый файл нужно читать в той кодировке, в которой он сохранён.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105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Слово «ЮФУ» содержит три буквы.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UTF-8 эти буквы занимают шесть байтов.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886075"/>
            <a:ext cx="276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Если выбрать неподходящую кодировку при открытии файла, вместо ожидаемых букв могут появиться неправильные знаки.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39</a:t>
            </a:r>
            <a:endParaRPr lang="en-US" sz="8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Изображение тоже является данными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Растровое изображение — сетка пикселей, для которых хранят значения цвета.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286250" y="1743075"/>
            <a:ext cx="4381500" cy="1600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286250" y="1743075"/>
            <a:ext cx="4381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простой модели RGB цвет задают три компонента: красная, зелёная и синяя. Если выделить по 8 бит на компонент, один пиксель занимает 24 бита, то есть 3 байта.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286250" y="2714625"/>
            <a:ext cx="4381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Разрешение определяет число пикселей, а глубина цвета — число битов на пиксель. Сжатие и служебные данные меняют размер реального файла.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76250" y="1743075"/>
            <a:ext cx="3381375" cy="1724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619125" y="1885950"/>
            <a:ext cx="3095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Оценка объёма хранения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619125" y="2119313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Изображение 800 × 600, RGB: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619125" y="2390775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800 × 600 = 480 000 пикселей</a:t>
            </a:r>
            <a:endParaRPr lang="en-US" sz="1211" dirty="0"/>
          </a:p>
        </p:txBody>
      </p:sp>
      <p:sp>
        <p:nvSpPr>
          <p:cNvPr id="16" name="Text 13"/>
          <p:cNvSpPr/>
          <p:nvPr/>
        </p:nvSpPr>
        <p:spPr>
          <a:xfrm>
            <a:off x="619125" y="2662238"/>
            <a:ext cx="30956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480 000 × 3 = 1 440 000 байт</a:t>
            </a:r>
            <a:endParaRPr lang="en-US" sz="1211" dirty="0"/>
          </a:p>
        </p:txBody>
      </p:sp>
      <p:sp>
        <p:nvSpPr>
          <p:cNvPr id="17" name="Text 14"/>
          <p:cNvSpPr/>
          <p:nvPr/>
        </p:nvSpPr>
        <p:spPr>
          <a:xfrm>
            <a:off x="619125" y="2933700"/>
            <a:ext cx="30956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объём несжатых цветовых данных без заголовков и прозрачности.</a:t>
            </a:r>
            <a:endParaRPr lang="en-US" sz="1211" dirty="0"/>
          </a:p>
        </p:txBody>
      </p:sp>
      <p:sp>
        <p:nvSpPr>
          <p:cNvPr id="18" name="Shape 15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9" name="Text 16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Расчёт размера требует указать модель представления; по одному разрешению размер файла не найти.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39</a:t>
            </a:r>
            <a:endParaRPr lang="en-US" sz="89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Целые числа и числа с дробной частью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Python для целых чисел обычно используют int, а для чисел с дробной частью — float.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Количество книг удобно записать целым числом: 3. Длину стола — числом с дробной частью: 1.5.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коде Python дробную часть отделяют точкой. Тип помогает понять, с каким значением работает программа. Арифметические действия можно выполнять и с целыми, и с дробными числами.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105025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— целое число, тип int.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1.5 — число типа float.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+ 2 даёт 5.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1.5 + 2.0 даёт 3.5.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Текст "1.5" в кавычках — строка. Перед вычислением его преобразуют в число.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39</a:t>
            </a:r>
            <a:endParaRPr lang="en-US" sz="89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Какую работу выполняет компьютер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Вычислительная система объединяет обработку, хранение и обмен данными.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использует аппаратные ресурсы через программную среду. Ниже — упрощённая модель ролей компонентов, достаточная для понимания первого запуска.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Процессор (CPU)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Выполняет машинные инструкции: арифметику, сравнения и перенос данных.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53666"/>
            <a:ext cx="8191500" cy="39624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82241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Оперативная память (RAM)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82241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Хранит активные данные и код во время работы; обычно энергозависима.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049905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07848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Накопитель (SSD / HDD)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07848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Долговременно хранит файлы программы и результаты.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446145"/>
            <a:ext cx="8191500" cy="39624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47472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Устройства ввода и вывода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47472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Передают данные между системой, пользователем и внешними устройствами.</a:t>
            </a:r>
            <a:endParaRPr lang="en-US" sz="1069" dirty="0"/>
          </a:p>
        </p:txBody>
      </p:sp>
      <p:sp>
        <p:nvSpPr>
          <p:cNvPr id="23" name="Shape 20"/>
          <p:cNvSpPr/>
          <p:nvPr/>
        </p:nvSpPr>
        <p:spPr>
          <a:xfrm>
            <a:off x="476250" y="3842384"/>
            <a:ext cx="8191500" cy="39624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870959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Операционная система</a:t>
            </a:r>
            <a:endParaRPr lang="en-US" sz="1069" dirty="0"/>
          </a:p>
        </p:txBody>
      </p:sp>
      <p:sp>
        <p:nvSpPr>
          <p:cNvPr id="25" name="Text 22"/>
          <p:cNvSpPr/>
          <p:nvPr/>
        </p:nvSpPr>
        <p:spPr>
          <a:xfrm>
            <a:off x="2876550" y="3870959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Создаёт процессы, распределяет ресурсы и предоставляет доступ к файлам.</a:t>
            </a:r>
            <a:endParaRPr lang="en-US" sz="1069" dirty="0"/>
          </a:p>
        </p:txBody>
      </p:sp>
      <p:sp>
        <p:nvSpPr>
          <p:cNvPr id="26" name="Shape 23"/>
          <p:cNvSpPr/>
          <p:nvPr/>
        </p:nvSpPr>
        <p:spPr>
          <a:xfrm>
            <a:off x="476250" y="4333875"/>
            <a:ext cx="8191500" cy="3571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27" name="Text 24"/>
          <p:cNvSpPr/>
          <p:nvPr/>
        </p:nvSpPr>
        <p:spPr>
          <a:xfrm>
            <a:off x="566738" y="4424363"/>
            <a:ext cx="80105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файл на диск и выполнить его в памяти — разные действия.</a:t>
            </a:r>
            <a:endParaRPr lang="en-US" sz="1069" dirty="0"/>
          </a:p>
        </p:txBody>
      </p:sp>
      <p:sp>
        <p:nvSpPr>
          <p:cNvPr id="28" name="Text 2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Arpaci-Dusseau · OSTEP, гл. 2</a:t>
            </a:r>
            <a:endParaRPr lang="en-US" sz="748" dirty="0"/>
          </a:p>
        </p:txBody>
      </p:sp>
      <p:sp>
        <p:nvSpPr>
          <p:cNvPr id="29" name="Text 2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39</a:t>
            </a:r>
            <a:endParaRPr lang="en-US" sz="89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нужно для первого запуска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Нужны установленный Python, редактор текста программы и сохранённый файл.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 позволяет написать и сохранить код. Python выполняет команды из файла. Терминал — место, куда вводят команду запуска.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Сохраните программу в файле main.py. Откройте терминал в той же папке и запустите файл. После изменения кода снова сохраните его и повторите запуск.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259080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с объяснением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main.py: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print("Привет!")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Команда в терминале: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main.py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Привет!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357663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зависимости от установки вместо python может использоваться python3 или py.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39</a:t>
            </a:r>
            <a:endParaRPr lang="en-US" sz="89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Значение и тип данных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Тип определяет, какие операции допустимы над значением и как интерпретируется результат.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Вводный набор типов Python включает int — целые числа, float — числа с дробной частью, str — строки и bool — логические значения. Функция type() позволяет проверить тип конкретного значения.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Тип важен при выборе операции: + складывает числа, но соединяет строки. Поэтому одинаковая внешняя запись при выводе ещё не означает одинаковое поведение в вычислении.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print(type(24))       # &lt;class 'int'&gt;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print(type(24.0))     # &lt;class 'float'&gt;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print(type("24"))     # &lt;class 'str'&gt;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print(type(True))     # &lt;class 'bool'&gt;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print(24 + 6)      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print("24" + "6")    # 246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39</a:t>
            </a:r>
            <a:endParaRPr lang="en-US" sz="89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Переменные и операция присваивания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Присваивание связывает имя с результатом вычисления правой части инструкции.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8575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записи current = previous + 2 сначала определяется значение previous, затем вычисляется сумма и результат получает имя current. Имена чувствительны к регистру и должны быть определены до использования.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3133725"/>
            <a:ext cx="32385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Повторное присваивание изменяет значение, доступное через данное имя. Оно не создаёт постоянной математической зависимости между переменными: ранее вычисленный результат автоматически не пересчитывается.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35743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previous = 20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= previous + 2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previous =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print(previous)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print(current)   # 22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= previous + 2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print(current)   # 32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модель выполнения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39</a:t>
            </a:r>
            <a:endParaRPr lang="en-US" sz="89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Литерал, идентификатор и выражение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Литерал задаёт значение в тексте программы; идентификатор именует его; выражение задаёт вычисление.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инструкции duration = 12 * 60 число 12 и число 60 — литералы, duration — идентификатор, а 12 * 60 — выражение. Знак = задаёт присваивание результата.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Строковые литералы заключаются в кавычки. Запись "duration" представляет текст, а duration обращается к переменной. Комментарий начинается с # и поясняет код, не участвуя в вычислении.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 = 12 *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print(duration)     # 720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print("duration")   # duration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Единица duration — секунды.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minutes = duration /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print(minutes)      #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модель выполнения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39</a:t>
            </a:r>
            <a:endParaRPr lang="en-US" sz="89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Арифметические операции Python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Операторы /, // и % имеют разный смысл; их выбирают в соответствии с вычислительной задачей.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Обычное деление / для чисел int возвращает float. Целочисленное деление // округляет частное вниз. Остаток % позволяет выделить часть, не вошедшую в полные группы.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положительного делителя выполняется a = (a // b) * b + a % b. Степень записывается через **. Скобки задают порядок действий; без них умножение и деление выполняются раньше сложения.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/ 60)   # 2.0833333333333335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// 60)  #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print(125 % 60)   # 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 * 60 + 5) #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 ** 2)      # 9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 + 3 * 4)   # 14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print((2 + 3) * 4) # 20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39</a:t>
            </a:r>
            <a:endParaRPr lang="en-US" sz="89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Сравнения и логические значения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Выражение сравнения возвращает True или False и может быть сохранено в переменной.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6479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Операторы == и != проверяют равенство и неравенство; &lt;, &gt;, &lt;= и &gt;= задают отношения порядка. Операция = выполняет присваивание и не является проверкой равенства.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Логическое выражение описывает проверяемое условие. Например, продолжительность соответствует ограничению, если она не превышает установленный предел. Для чисел отрицательное значение можно проверить отдельным сравнением.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duration =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 = 180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within_limit = duration &lt;= limit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print(within_limit)  # True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== 120) # False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!= 120) # True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print(duration &lt; 0)    # False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39</a:t>
            </a:r>
            <a:endParaRPr lang="en-US" sz="89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Строки и операции над текстом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Строка str представляет последовательность символов; операции над строками не являются арифметикой.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+ соединяет строки, * с целым множителем повторяет строку, len() возвращает её длину в кодовых точках. Для обычного латинского слова это число букв.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Число нельзя непосредственно прибавить к строке: "CS" + 1 вызовет TypeError. Используйте str(1) или f-строку, если требуется включить число в текст.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= "CS"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number = 1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 = course + str(number)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print(label)        # CS1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print(len(label))   # 3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print("-" * 5)      # -----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print(f"{course}{number}") # CS1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числа и выражения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39</a:t>
            </a:r>
            <a:endParaRPr lang="en-US" sz="89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Явное преобразование типов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Функции int(), float() и str() создают представление значения другого типа.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int("24") преобразует целочисленную строку, float("24.5") — строку с дробной частью, str(24) — число в текст. Преобразование должно соответствовать формату исходного значения.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int("24.5") вызывает ValueError: строка не задаёт целое число в ожидаемой записи. int(24.5) допустимо, но отбрасывает дробную часть. Это различие важно при обработке внешних данных.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print(int("24") + 6)     # 30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print(float("24.5") + 6) # 30.5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print(str(24) + "6")     # 246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print(int(24.9))         # 24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print(int(-24.9))        # -24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int("24.5") вызовет ValueError.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39</a:t>
            </a:r>
            <a:endParaRPr lang="en-US" sz="89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Ввод: текст и числовые данные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одну строку; числовое преобразование выполняется отдельным действием.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 input() имеет тип str. Если предполагается арифметическая обработка, строку преобразуют в int или float. Число строк и порядок значений задаются условием задачи.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примере первые два ввода содержат числа 10 и 14. После преобразования программа вычисляет сумму 24.0. Без преобразования операция + соединила бы строки и дала текст "1014".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first_text = input()  # 10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second_text = input() # 14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float(first_text)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float(second_text)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print(first + second) # 24.0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print(first_text + second_text)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1014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39</a:t>
            </a:r>
            <a:endParaRPr lang="en-US" sz="89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Вызов функции и порядок вычисления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Аргументы вычисляются до вызова функции, которой они передаются.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4384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выражении float(input()) внутренний вызов input() сначала возвращает строку. Затем эта строка становится аргументом float(), а результат преобразования — значением всего выражения.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print(float("2.5") * 4) сначала получает число 2.5, затем вычисляет произведение 10.0 и передаёт его в print(). Разложение выражения на промежуточные переменные позволяет проверить каждый этап.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966912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 = "2.5"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= float(raw)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 = value * 4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print(result)           # 10.0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Та же последовательность: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print(float("2.5") * 4) # 10.0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встроенные функции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39</a:t>
            </a:r>
            <a:endParaRPr lang="en-US" sz="89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Вывод и форматирование чисел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print() выводит значения, а f-строка позволяет задать их текстовое представление.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4384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f-строке выражение внутри фигурных скобок подставляется в текст. Спецификатор :.2f задаёт два знака после десятичной точки. Он управляет выводимой строкой и не изменяет переменную.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31337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Аргумент sep задаёт разделитель между значениями print(), end — завершение вывода. По умолчанию значения разделяются пробелом, а вызов заканчивается переводом строки.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length = 1250 / 1000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print(length)                 # 1.25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print(f"Длина: {length:.2f} м")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Длина: 1.25 м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print("ПМИ", "ФИИТ", sep=" / 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ПМИ / ФИИТ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print(f"{12.0:.1f}")          #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ввод и вывод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39</a:t>
            </a:r>
            <a:endParaRPr lang="en-US" sz="89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вычисления среднего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Арифметическое среднее двух значений равно их сумме, делённой на два.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019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получает два измерения в одинаковых единицах. Вход содержит две строки с конечными числами. Результат выводится одной строкой с одним знаком после точки.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9241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входов 10 и 14 преобразование даёт 10.0 и 14.0; сумма равна 24.0, среднее — 12.0. Скобки обеспечивают сложение до деления. Для входов −6 и 6 ожидается 0.0.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35743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print(f"{mean:.1f}")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Вход: 10 и 14, две строки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12.0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39</a:t>
            </a:r>
            <a:endParaRPr lang="en-US" sz="89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перевода единиц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Перевод миллиметров в метры выполняется делением значения на 1000.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millimeters фиксирует единицу входа, meters — единицу результата. Такой выбор имён уменьшает риск смешения единиц при чтении программы.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примере пользователь вводит 1250. Преобразование создаёт число 1250.0, деление даёт 1.25. Формат :.3f выводит 1.250. Дополнительный ноль относится к представлению ответа, а не к изменению значения.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millimeters = float(input())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meters = millimeters / 1000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print(f"{meters:.3f}")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Ввод: 1250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1.250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Проверка: 1.25 * 1000 = 1250.0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39</a:t>
            </a:r>
            <a:endParaRPr lang="en-US" sz="89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И ВЫЧИСЛЕНИЯ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Программа обработки длительности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Целочисленное деление и остаток разделяют длительность на полные минуты и оставшиеся секунды.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8097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 — неотрицательное целое число секунд. Операция // 60 определяет число полных минут, а % 60 — остаток в диапазоне от 0 до 59.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323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125 секунд программа получает 2 минуты и 5 секунд. Обратная проверка 2 × 60 + 5 = 125 восстанавливает вход. Для 60 секунд ответ — 1 минута и 0 секунд.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2162175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 / ПРИМЕР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total_seconds = int(input())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minutes = total_seconds //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seconds = total_seconds % 60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print(minutes, seconds)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Ввод: 125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Вывод: 2 5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39</a:t>
            </a:r>
            <a:endParaRPr lang="en-US" sz="89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01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ПРАКТИКА И 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почитать после лекции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Дополнительные объяснения доступны в учебных материалах и документации Python.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первой лекции достаточно понимать данные, простые вычисления, переменные и ввод-вывод. Возвращайтесь к примерам и пробуйте заменять числа своими.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238375"/>
            <a:ext cx="8191500" cy="15001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38375"/>
            <a:ext cx="8191500" cy="500063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590550" y="2266950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первые вычисления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266950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https://docs.python.org/3/tutorial/introduction.html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738438"/>
            <a:ext cx="8191500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0550" y="2767013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запуск программ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767013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https://docs.python.org/3/tutorial/interpreter.html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3238500"/>
            <a:ext cx="8191500" cy="500063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590550" y="32670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input и print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32670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https://docs.python.org/3/library/functions.html</a:t>
            </a:r>
            <a:endParaRPr lang="en-US" sz="891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39</a:t>
            </a:r>
            <a:endParaRPr lang="en-US" sz="89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2026-09-08T10:26:46Z</dcterms:created>
  <dcterms:modified xsi:type="dcterms:W3CDTF">2026-09-08T10:26:46Z</dcterms:modified>
</cp:coreProperties>
</file>