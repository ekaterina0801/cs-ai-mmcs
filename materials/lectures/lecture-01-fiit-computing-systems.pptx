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embeddedFontLst>
    <p:embeddedFont>
      <p:font typeface="PT Sans"/>
      <p:regular r:id="rId46"/>
    </p:embeddedFont>
    <p:embeddedFont>
      <p:font typeface="PT Serif"/>
      <p:regular r:id="rId47"/>
    </p:embeddedFont>
    <p:embeddedFont>
      <p:font typeface="IBM Plex Mono"/>
      <p:regular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font" Target="fonts/rId46.fntdata"/><Relationship Id="rId47" Type="http://schemas.openxmlformats.org/officeDocument/2006/relationships/font" Target="fonts/rId47.fntdata"/><Relationship Id="rId48" Type="http://schemas.openxmlformats.org/officeDocument/2006/relationships/font" Target="fonts/rId4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курса ПМИ и ФИИТ
Планы лекций ПМИ / ФИИТ, предоставленные преподавателем
https://merch.sfedu.ru/1
[/Sources]
Иллюстрация создана для лекции с помощью генерации изображений.
Официальная эмблема ЮФУ: https://merch.sfedu.ru/1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курса ПМИ и ФИИТ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https://cs50.harvard.edu/x/notes/0/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курса ПМИ и ФИИТ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https://cs50.harvard.edu/x/notes/3/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https://cs50.harvard.edu/x/notes/0/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https://developer.mozilla.org/en-US/docs/Web/API/Canvas_API/Tutorial/Pixel_manipulation_with_canvas
Авторские учебные примеры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https://pages.cs.wisc.edu/~remzi/OSTEP/intro.pdf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https://docs.python.org/3/library/functions.html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https://docs.python.org/3/reference/executionmodel.html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https://docs.python.org/3/reference/executionmodel.html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https://docs.python.org/3/tutorial/introduction.html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https://docs.python.org/3/tutorial/introduction.html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https://docs.python.org/3/tutorial/introduction.html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https://docs.python.org/3/library/functions.html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https://docs.python.org/3/library/functions.html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https://docs.python.org/3/library/functions.html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https://docs.python.org/3/tutorial/inputoutput.html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1066800" y="309563"/>
            <a:ext cx="3667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33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ЮЖНЫЙ ФЕДЕРАЛЬНЫЙ</a:t>
            </a:r>
            <a:endParaRPr lang="en-US" sz="1033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1033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УНИВЕРСИТЕТ</a:t>
            </a:r>
            <a:endParaRPr lang="en-US" sz="103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285750"/>
            <a:ext cx="457200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262063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117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ЛЕКЦИЯ 01 / ФИИТ</a:t>
            </a:r>
            <a:endParaRPr lang="en-US" sz="1176" dirty="0"/>
          </a:p>
        </p:txBody>
      </p:sp>
      <p:sp>
        <p:nvSpPr>
          <p:cNvPr id="8" name="Text 4"/>
          <p:cNvSpPr/>
          <p:nvPr/>
        </p:nvSpPr>
        <p:spPr>
          <a:xfrm>
            <a:off x="476250" y="1714500"/>
            <a:ext cx="452437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5"/>
              </a:lnSpc>
              <a:buNone/>
            </a:pPr>
            <a:r>
              <a:rPr lang="en-US" sz="334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Введение в</a:t>
            </a:r>
            <a:endParaRPr lang="en-US" sz="3349" dirty="0"/>
          </a:p>
          <a:p>
            <a:pPr algn="l" indent="0" marL="0">
              <a:lnSpc>
                <a:spcPts val="4085"/>
              </a:lnSpc>
              <a:buNone/>
            </a:pPr>
            <a:r>
              <a:rPr lang="en-US" sz="334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Computer Science</a:t>
            </a:r>
            <a:endParaRPr lang="en-US" sz="3349" dirty="0"/>
          </a:p>
        </p:txBody>
      </p:sp>
      <p:sp>
        <p:nvSpPr>
          <p:cNvPr id="9" name="Text 5"/>
          <p:cNvSpPr/>
          <p:nvPr/>
        </p:nvSpPr>
        <p:spPr>
          <a:xfrm>
            <a:off x="476250" y="2976563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888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Вычисления, данные</a:t>
            </a:r>
            <a:endParaRPr lang="en-US" sz="1888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888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 программы</a:t>
            </a:r>
            <a:endParaRPr lang="en-US" sz="1888" dirty="0"/>
          </a:p>
        </p:txBody>
      </p:sp>
      <p:sp>
        <p:nvSpPr>
          <p:cNvPr id="10" name="Text 6"/>
          <p:cNvSpPr/>
          <p:nvPr/>
        </p:nvSpPr>
        <p:spPr>
          <a:xfrm>
            <a:off x="476250" y="3833812"/>
            <a:ext cx="40481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формальная задача превращается в результат, который можно объяснить и проверить.</a:t>
            </a:r>
            <a:endParaRPr lang="en-US" sz="1247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95875" y="904875"/>
            <a:ext cx="3571875" cy="3571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39</a:t>
            </a:r>
            <a:endParaRPr lang="en-US" sz="89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устроена эта лекция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Понятия вводятся в том порядке, в котором они нужны для понимания программы.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Сначала определим предмет Computer Science и способ описания задачи. Затем разберём представление данных и устройство вычислительной среды. В последней части прочитаем программу, проследим её выполнение и проверим результат.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452688"/>
            <a:ext cx="8191500" cy="1785938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452688"/>
            <a:ext cx="8191500" cy="446484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481263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01 · Предмет CS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481263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Задача, модель, алгоритм и программа.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899172"/>
            <a:ext cx="8191500" cy="446484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927747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 · Данные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927747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Биты, числа, текст и кодирование.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345656"/>
            <a:ext cx="8191500" cy="446484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374231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 · Выполнение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374231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Компьютер, интерпретатор и рабочая среда.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792141"/>
            <a:ext cx="8191500" cy="446484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820716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 · Применение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820716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 программы и подготовка к практике.</a:t>
            </a:r>
            <a:endParaRPr lang="en-US" sz="1069" dirty="0"/>
          </a:p>
        </p:txBody>
      </p:sp>
      <p:sp>
        <p:nvSpPr>
          <p:cNvPr id="23" name="Shape 20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24" name="Text 21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ФИИТ: сегодня изучаем запуск и среду; конструкции Python подробно разбираются в лекции 3.</a:t>
            </a:r>
            <a:endParaRPr lang="en-US" sz="1069" dirty="0"/>
          </a:p>
        </p:txBody>
      </p:sp>
      <p:sp>
        <p:nvSpPr>
          <p:cNvPr id="25" name="Text 2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Планы курса ПМИ и ФИИТ</a:t>
            </a:r>
            <a:endParaRPr lang="en-US" sz="748" dirty="0"/>
          </a:p>
        </p:txBody>
      </p:sp>
      <p:sp>
        <p:nvSpPr>
          <p:cNvPr id="26" name="Text 2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39</a:t>
            </a:r>
            <a:endParaRPr lang="en-US" sz="89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изучает Computer Science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Computer Science — наука о вычислениях и способах автоматической обработки информации.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8097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Вычисление — преобразование представленных данных по заданным правилам. CS исследует, какие задачи допускают такое решение, как описывать методы решения и сколько ресурсов им требуется.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Программирование — практический способ выразить метод на языке, понятном вычислительной системе. Знание синтаксиса необходимо, но само по себе не объясняет, почему решение правильно.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033588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81675" y="1905000"/>
            <a:ext cx="2724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Разобранный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81675" y="2181225"/>
            <a:ext cx="2724150" cy="143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Задача: найти запись студента по номеру.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Нужно выбрать представление записей, метод поиска и способ проверки ответа. Код появляется после этих решений.</a:t>
            </a:r>
            <a:endParaRPr lang="en-US" sz="1247" dirty="0"/>
          </a:p>
        </p:txBody>
      </p:sp>
      <p:sp>
        <p:nvSpPr>
          <p:cNvPr id="15" name="Shape 12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6" name="Text 13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Предмет CS шире написания кода: он включает данные, методы и системы.</a:t>
            </a:r>
            <a:endParaRPr lang="en-US" sz="1069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39</a:t>
            </a:r>
            <a:endParaRPr lang="en-US" sz="89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Основные области CS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Области различаются вопросами, которые они задают об одной вычислительной задаче.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Рассмотрим сервис, который принимает результаты измерений и строит отчёт. Его работа опирается сразу на несколько областей.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98120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Алгоритмы и теория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найти результат? Как растут затраты при увеличении данных?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653665"/>
            <a:ext cx="8191500" cy="396240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68224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Архитектура и ОС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68224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выполняются команды и кто распределяет память и процессор?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04990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07848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Базы данных и сети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07848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хранить измерения и передавать их между компьютерами?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446145"/>
            <a:ext cx="8191500" cy="39624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47472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Программная инженерия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47472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изменять программу, проверять её и работать совместно?</a:t>
            </a:r>
            <a:endParaRPr lang="en-US" sz="1069" dirty="0"/>
          </a:p>
        </p:txBody>
      </p:sp>
      <p:sp>
        <p:nvSpPr>
          <p:cNvPr id="23" name="Shape 20"/>
          <p:cNvSpPr/>
          <p:nvPr/>
        </p:nvSpPr>
        <p:spPr>
          <a:xfrm>
            <a:off x="476250" y="384238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24" name="Text 21"/>
          <p:cNvSpPr/>
          <p:nvPr/>
        </p:nvSpPr>
        <p:spPr>
          <a:xfrm>
            <a:off x="590550" y="387096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данных и ИИ</a:t>
            </a:r>
            <a:endParaRPr lang="en-US" sz="1069" dirty="0"/>
          </a:p>
        </p:txBody>
      </p:sp>
      <p:sp>
        <p:nvSpPr>
          <p:cNvPr id="25" name="Text 22"/>
          <p:cNvSpPr/>
          <p:nvPr/>
        </p:nvSpPr>
        <p:spPr>
          <a:xfrm>
            <a:off x="2876550" y="387096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выявлять закономерности и строить модели по наблюдениям?</a:t>
            </a:r>
            <a:endParaRPr lang="en-US" sz="1069" dirty="0"/>
          </a:p>
        </p:txBody>
      </p:sp>
      <p:sp>
        <p:nvSpPr>
          <p:cNvPr id="26" name="Shape 23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27" name="Text 24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этом курсе связываем программирование с обработкой данных и инструментами разработки.</a:t>
            </a:r>
            <a:endParaRPr lang="en-US" sz="1069" dirty="0"/>
          </a:p>
        </p:txBody>
      </p:sp>
      <p:sp>
        <p:nvSpPr>
          <p:cNvPr id="28" name="Text 2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39</a:t>
            </a:r>
            <a:endParaRPr lang="en-US" sz="89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задача превращается в программу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Сначала понимаем, что нужно найти, затем записываем действия на Python.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Возьмём знакомую задачу: найти площадь прямоугольника. Для решения нужны ширина и высота. Правило вычисления — умножить их.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Алгоритм описывает шаги решения словами. Программа записывает эти шаги на языке программирования. Один и тот же способ работает для разных размеров.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0288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Задача: найти площадь.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Данные: ширина 3 м, высота 4 м.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Правило: 3 × 4 = 12 м².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809875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Шаги: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Получить ширину и высоту.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Перемножить значения.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Показать площадь.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39</a:t>
            </a:r>
            <a:endParaRPr lang="en-US" sz="89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Алгоритм задаёт точные действия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Алгоритм решения задачи — однозначно описанная процедура, приводящая к требуемому результату.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вычислительной задачи задают допустимые входы и ожидаемый выход. Каждый шаг должен быть выполнимым, а процедура получения ответа — завершаться на допустимом входе.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Псевдокод описывает действия без привязки к синтаксису языка. Он удобен для проверки логики до программирования.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2383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81675" y="1905000"/>
            <a:ext cx="2724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Псевдокод и его исполнение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81675" y="2181225"/>
            <a:ext cx="27241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Найти большее из двух чисел a и b: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Прочитать a и b.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Если a ≥ b, выбрать a.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Иначе выбрать b.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 Вывести выбранное число.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 a = −3 и b = −7 ответ −3.</a:t>
            </a:r>
            <a:endParaRPr lang="en-US" sz="1247" dirty="0"/>
          </a:p>
        </p:txBody>
      </p:sp>
      <p:sp>
        <p:nvSpPr>
          <p:cNvPr id="15" name="Shape 12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6" name="Text 13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Фраза «выбрать лучшее число» неоднозначна; сравнение a ≥ b задаёт проверяемое правило.</a:t>
            </a:r>
            <a:endParaRPr lang="en-US" sz="1069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39</a:t>
            </a:r>
            <a:endParaRPr lang="en-US" sz="89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Какие данные получает программа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Условие задачи должно объяснять, что вводить и какой результат ожидать.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площади прямоугольника нужны два числа: ширина и высота. Обе длины должны быть выражены в одной единице, например в метрах.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Договоримся вводить каждое число отдельной строкой. Программа прочитает их, выполнит умножение и покажет площадь. Такая договорённость помогает запускать программу без догадок.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30981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Первая строка: 3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Вторая строка: 4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Ширина — 3 м.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Высота — 4 м.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Площадь — 12 м².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295650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Если ширина задана в сантиметрах, сначала переведите её в ту же единицу, что и высота.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39</a:t>
            </a:r>
            <a:endParaRPr lang="en-US" sz="89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Данные получают смысл из контекста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Данные — зафиксированное представление значений, объектов или событий.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Одна последовательность знаков может обозначать число, идентификатор или текст. Интерпретацию определяют схема данных, единицы измерения и правила обработки.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Программа должна сохранять этот смысл при преобразованиях. Автоматическое превращение любого похожего текста в число может уничтожить существенную информацию.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30981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Разобранный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«0017» — номер студента: ведущие нули могут быть частью идентификатора.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809875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«17» — количество измерений: с ним выполняют арифметику.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295650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«17 °C» — значение с единицей: перед вычислением нужно отделить число и установить шкалу.</a:t>
            </a:r>
            <a:endParaRPr lang="en-US" sz="1247" dirty="0"/>
          </a:p>
        </p:txBody>
      </p:sp>
      <p:sp>
        <p:nvSpPr>
          <p:cNvPr id="17" name="Shape 14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8" name="Text 15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Выбор типа данных начинается со смысла величины, а не с её внешнего вида.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39</a:t>
            </a:r>
            <a:endParaRPr lang="en-US" sz="89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Бит и байт: единицы представления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Бит имеет два возможных значения: 0 и 1. Байт состоит из восьми битов.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n бит существует 2ⁿ различных комбинаций. Поэтому 8 бит позволяют закодировать 256 вариантов.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Если договориться трактовать байт как беззнаковое целое число, получим диапазон от 0 до 255. Это одна из интерпретаций: тот же байт может быть частью текста, изображения или команды.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843088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Расчёт числа состояний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бита → 4 комбинации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00 · 01 · 10 · 11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5762625" y="2586038"/>
            <a:ext cx="27622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бит → 256 комбинаций</a:t>
            </a:r>
            <a:endParaRPr lang="en-US" sz="1211" dirty="0"/>
          </a:p>
        </p:txBody>
      </p:sp>
      <p:sp>
        <p:nvSpPr>
          <p:cNvPr id="16" name="Text 13"/>
          <p:cNvSpPr/>
          <p:nvPr/>
        </p:nvSpPr>
        <p:spPr>
          <a:xfrm>
            <a:off x="5762625" y="2857500"/>
            <a:ext cx="2762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Чтобы различать 300 состояний, нужно не менее 9 бит: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2⁸ &lt; 300 ≤ 2⁹.</a:t>
            </a:r>
            <a:endParaRPr lang="en-US" sz="1211" dirty="0"/>
          </a:p>
        </p:txBody>
      </p:sp>
      <p:sp>
        <p:nvSpPr>
          <p:cNvPr id="17" name="Shape 14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8" name="Text 15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Количество кодовых комбинаций не определяет их смысл: нужна договорённость о кодировании.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Harvard CS50 · введение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39</a:t>
            </a:r>
            <a:endParaRPr lang="en-US" sz="89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читать двоичное число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позиционной системе вклад цифры зависит от её разряда.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286250" y="1743075"/>
            <a:ext cx="438150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286250" y="1743075"/>
            <a:ext cx="4381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десятичной записи веса разрядов равны степеням 10, в двоичной — степеням 2. Разряды нумеруют справа налево, начиная с нуля.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286250" y="2505075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Чтобы перевести двоичную запись в десятичное число, складывают веса тех разрядов, в которых стоит единица.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76250" y="1743075"/>
            <a:ext cx="3381375" cy="1938337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619125" y="1885950"/>
            <a:ext cx="3095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Разобранный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619125" y="2119313"/>
            <a:ext cx="30956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Разряд     4   3   2   1   0</a:t>
            </a:r>
            <a:endParaRPr lang="en-US" sz="998" dirty="0"/>
          </a:p>
          <a:p>
            <a:pPr algn="l" indent="0" marL="0">
              <a:lnSpc>
                <a:spcPts val="121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Цифра      1   0   1   1   0</a:t>
            </a:r>
            <a:endParaRPr lang="en-US" sz="998" dirty="0"/>
          </a:p>
          <a:p>
            <a:pPr algn="l" indent="0" marL="0">
              <a:lnSpc>
                <a:spcPts val="121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Вес       16   8   4   2   1</a:t>
            </a:r>
            <a:endParaRPr lang="en-US" sz="998" dirty="0"/>
          </a:p>
        </p:txBody>
      </p:sp>
      <p:sp>
        <p:nvSpPr>
          <p:cNvPr id="15" name="Text 12"/>
          <p:cNvSpPr/>
          <p:nvPr/>
        </p:nvSpPr>
        <p:spPr>
          <a:xfrm>
            <a:off x="619125" y="2681288"/>
            <a:ext cx="30956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10110₂ = 16 + 4 + 2 = 22₁₀</a:t>
            </a:r>
            <a:endParaRPr lang="en-US" sz="1211" dirty="0"/>
          </a:p>
        </p:txBody>
      </p:sp>
      <p:sp>
        <p:nvSpPr>
          <p:cNvPr id="16" name="Text 13"/>
          <p:cNvSpPr/>
          <p:nvPr/>
        </p:nvSpPr>
        <p:spPr>
          <a:xfrm>
            <a:off x="619125" y="2952750"/>
            <a:ext cx="309562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Обратная проверка: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22 = 16 + 4 + 2, поэтому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разряды 16, 4 и 2 равны 1.</a:t>
            </a:r>
            <a:endParaRPr lang="en-US" sz="1211" dirty="0"/>
          </a:p>
        </p:txBody>
      </p:sp>
      <p:sp>
        <p:nvSpPr>
          <p:cNvPr id="17" name="Shape 14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8" name="Text 15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Начальные нули не меняют числовое значение: 00010110₂ также равно 22.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39</a:t>
            </a:r>
            <a:endParaRPr lang="en-US" sz="89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компьютер хранит текст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Буквы, цифры и знаки представляются в компьютере с помощью числовых кодов.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Кодировка — правило, по которому текст записывают в виде байтов и читают обратно. Распространённая кодировка UTF-8 позволяет хранить текст на разных языках.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Количество букв и количество байтов могут различаться. Для начала важно помнить: текстовый файл нужно читать в той кодировке, в которой он сохранён.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1050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Слово «ЮФУ» содержит три буквы.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UTF-8 эти буквы занимают шесть байтов.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886075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Если выбрать неподходящую кодировку при открытии файла, вместо ожидаемых букв могут появиться неправильные знаки.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39</a:t>
            </a:r>
            <a:endParaRPr lang="en-US" sz="89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Изображение тоже является данными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Растровое изображение — сетка пикселей, для которых хранят значения цвета.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286250" y="1743075"/>
            <a:ext cx="438150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286250" y="1743075"/>
            <a:ext cx="4381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простой модели RGB цвет задают три компонента: красная, зелёная и синяя. Если выделить по 8 бит на компонент, один пиксель занимает 24 бита, то есть 3 байта.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286250" y="2714625"/>
            <a:ext cx="4381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Разрешение определяет число пикселей, а глубина цвета — число битов на пиксель. Сжатие и служебные данные меняют размер реального файла.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76250" y="1743075"/>
            <a:ext cx="3381375" cy="17240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619125" y="1885950"/>
            <a:ext cx="3095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Оценка объёма хранения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619125" y="2119313"/>
            <a:ext cx="30956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Изображение 800 × 600, RGB: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619125" y="2390775"/>
            <a:ext cx="30956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800 × 600 = 480 000 пикселей</a:t>
            </a:r>
            <a:endParaRPr lang="en-US" sz="1211" dirty="0"/>
          </a:p>
        </p:txBody>
      </p:sp>
      <p:sp>
        <p:nvSpPr>
          <p:cNvPr id="16" name="Text 13"/>
          <p:cNvSpPr/>
          <p:nvPr/>
        </p:nvSpPr>
        <p:spPr>
          <a:xfrm>
            <a:off x="619125" y="2662238"/>
            <a:ext cx="30956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480 000 × 3 = 1 440 000 байт</a:t>
            </a:r>
            <a:endParaRPr lang="en-US" sz="1211" dirty="0"/>
          </a:p>
        </p:txBody>
      </p:sp>
      <p:sp>
        <p:nvSpPr>
          <p:cNvPr id="17" name="Text 14"/>
          <p:cNvSpPr/>
          <p:nvPr/>
        </p:nvSpPr>
        <p:spPr>
          <a:xfrm>
            <a:off x="619125" y="2933700"/>
            <a:ext cx="30956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объём несжатых цветовых данных без заголовков и прозрачности.</a:t>
            </a:r>
            <a:endParaRPr lang="en-US" sz="1211" dirty="0"/>
          </a:p>
        </p:txBody>
      </p:sp>
      <p:sp>
        <p:nvSpPr>
          <p:cNvPr id="18" name="Shape 15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9" name="Text 16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Расчёт размера требует указать модель представления; по одному разрешению размер файла не найти.</a:t>
            </a:r>
            <a:endParaRPr lang="en-US" sz="1069" dirty="0"/>
          </a:p>
        </p:txBody>
      </p:sp>
      <p:sp>
        <p:nvSpPr>
          <p:cNvPr id="20" name="Text 17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MDN · представление пикселей; авторский расчёт</a:t>
            </a:r>
            <a:endParaRPr lang="en-US" sz="748" dirty="0"/>
          </a:p>
        </p:txBody>
      </p:sp>
      <p:sp>
        <p:nvSpPr>
          <p:cNvPr id="21" name="Text 18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39</a:t>
            </a:r>
            <a:endParaRPr lang="en-US" sz="89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Целые числа и числа с дробной частью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Python для целых чисел обычно используют int, а для чисел с дробной частью — float.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Количество книг удобно записать целым числом: 3. Длину стола — числом с дробной частью: 1.5.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коде Python дробную часть отделяют точкой. Тип помогает понять, с каким значением работает программа. Арифметические действия можно выполнять и с целыми, и с дробными числами.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1050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— целое число, тип int.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1.5 — число типа float.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+ 2 даёт 5.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1.5 + 2.0 даёт 3.5.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Текст "1.5" в кавычках — строка. Перед вычислением его преобразуют в число.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39</a:t>
            </a:r>
            <a:endParaRPr lang="en-US" sz="89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Какую работу выполняет компьютер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Вычислительная система объединяет обработку, хранение и обмен данными.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Программа использует аппаратные ресурсы через программную среду. Ниже — упрощённая модель ролей компонентов, достаточная для понимания первого запуска.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98120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Процессор (CPU)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Выполняет машинные инструкции: арифметику, сравнения и перенос данных.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653666"/>
            <a:ext cx="8191500" cy="396240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682241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Оперативная память (RAM)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682241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Хранит активные данные и код во время работы; обычно энергозависима.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04990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07848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Накопитель (SSD / HDD)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07848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Долговременно хранит файлы программы и результаты.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446145"/>
            <a:ext cx="8191500" cy="39624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47472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Устройства ввода и вывода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47472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Передают данные между системой, пользователем и внешними устройствами.</a:t>
            </a:r>
            <a:endParaRPr lang="en-US" sz="1069" dirty="0"/>
          </a:p>
        </p:txBody>
      </p:sp>
      <p:sp>
        <p:nvSpPr>
          <p:cNvPr id="23" name="Shape 20"/>
          <p:cNvSpPr/>
          <p:nvPr/>
        </p:nvSpPr>
        <p:spPr>
          <a:xfrm>
            <a:off x="476250" y="3842384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24" name="Text 21"/>
          <p:cNvSpPr/>
          <p:nvPr/>
        </p:nvSpPr>
        <p:spPr>
          <a:xfrm>
            <a:off x="590550" y="3870959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Операционная система</a:t>
            </a:r>
            <a:endParaRPr lang="en-US" sz="1069" dirty="0"/>
          </a:p>
        </p:txBody>
      </p:sp>
      <p:sp>
        <p:nvSpPr>
          <p:cNvPr id="25" name="Text 22"/>
          <p:cNvSpPr/>
          <p:nvPr/>
        </p:nvSpPr>
        <p:spPr>
          <a:xfrm>
            <a:off x="2876550" y="3870959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Создаёт процессы, распределяет ресурсы и предоставляет доступ к файлам.</a:t>
            </a:r>
            <a:endParaRPr lang="en-US" sz="1069" dirty="0"/>
          </a:p>
        </p:txBody>
      </p:sp>
      <p:sp>
        <p:nvSpPr>
          <p:cNvPr id="26" name="Shape 23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27" name="Text 24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Сохранить файл на диск и выполнить его в памяти — разные действия.</a:t>
            </a:r>
            <a:endParaRPr lang="en-US" sz="1069" dirty="0"/>
          </a:p>
        </p:txBody>
      </p:sp>
      <p:sp>
        <p:nvSpPr>
          <p:cNvPr id="28" name="Text 25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Arpaci-Dusseau · OSTEP, гл. 2</a:t>
            </a:r>
            <a:endParaRPr lang="en-US" sz="748" dirty="0"/>
          </a:p>
        </p:txBody>
      </p:sp>
      <p:sp>
        <p:nvSpPr>
          <p:cNvPr id="29" name="Text 2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39</a:t>
            </a:r>
            <a:endParaRPr lang="en-US" sz="89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нужно для первого запуска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Нужны установленный Python, редактор текста программы и сохранённый файл.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 позволяет написать и сохранить код. Python выполняет команды из файла. Терминал — место, куда вводят команду запуска.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Сохраните программу в файле main.py. Откройте терминал в той же папке и запустите файл. После изменения кода снова сохраните его и повторите запуск.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590800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 main.py: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print("Привет!")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Команда в терминале: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main.py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Результат: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Привет!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5762625" y="3576638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зависимости от установки вместо python может использоваться python3 или py.</a:t>
            </a:r>
            <a:endParaRPr lang="en-US" sz="1247" dirty="0"/>
          </a:p>
        </p:txBody>
      </p:sp>
      <p:sp>
        <p:nvSpPr>
          <p:cNvPr id="18" name="Text 15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39</a:t>
            </a:r>
            <a:endParaRPr lang="en-US" sz="89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Значение и тип данных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Тип определяет, какие операции допустимы над значением и как интерпретируется результат.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Вводный набор типов Python включает int — целые числа, float — числа с дробной частью, str — строки и bool — логические значения. Функция type() позволяет проверить тип конкретного значения.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Тип важен при выборе операции: + складывает числа, но соединяет строки. Поэтому одинаковая внешняя запись при выводе ещё не означает одинаковое поведение в вычислении.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1966912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print(type(24))       # &lt;class 'int'&gt;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print(type(24.0))     # &lt;class 'float'&gt;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print(type("24"))     # &lt;class 'str'&gt;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print(type(True))     # &lt;class 'bool'&gt;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print(24 + 6)        # 30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print("24" + "6")    # 246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встроенные функции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39</a:t>
            </a:r>
            <a:endParaRPr lang="en-US" sz="89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Переменные и операция присваивания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Присваивание связывает имя с результатом вычисления правой части инструкции.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8575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записи current = previous + 2 сначала определяется значение previous, затем вычисляется сумма и результат получает имя current. Имена чувствительны к регистру и должны быть определены до использования.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3133725"/>
            <a:ext cx="32385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Повторное присваивание изменяет значение, доступное через данное имя. Оно не создаёт постоянной математической зависимости между переменными: ранее вычисленный результат автоматически не пересчитывается.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35743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previous = 20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= previous + 2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previous = 30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print(previous)  # 30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print(current)   # 22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= previous + 2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print(current)   # 32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модель выполнения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39</a:t>
            </a:r>
            <a:endParaRPr lang="en-US" sz="89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Литерал, идентификатор и выражение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Литерал задаёт значение в тексте программы; идентификатор именует его; выражение задаёт вычисление.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0193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инструкции duration = 12 * 60 число 12 и число 60 — литералы, duration — идентификатор, а 12 * 60 — выражение. Знак = задаёт присваивание результата.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Строковые литералы заключаются в кавычки. Запись "duration" представляет текст, а duration обращается к переменной. Комментарий начинается с # и поясняет код, не участвуя в вычислении.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 = 12 * 60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print(duration)     # 720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print("duration")   # duration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Единица duration — секунды.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minutes = duration / 60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print(minutes)      # 12.0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модель выполнения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39</a:t>
            </a:r>
            <a:endParaRPr lang="en-US" sz="89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Арифметические операции Python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Операторы /, // и % имеют разный смысл; их выбирают в соответствии с вычислительной задачей.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Обычное деление / для чисел int возвращает float. Целочисленное деление // округляет частное вниз. Остаток % позволяет выделить часть, не вошедшую в полные группы.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положительного делителя выполняется a = (a // b) * b + a % b. Степень записывается через **. Скобки задают порядок действий; без них умножение и деление выполняются раньше сложения.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print(125 / 60)   # 2.0833333333333335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print(125 // 60)  # 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print(125 % 60)   # 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 * 60 + 5) # 125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print(3 ** 2)      # 9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 + 3 * 4)   # 14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print((2 + 3) * 4) # 20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числа и выражения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39</a:t>
            </a:r>
            <a:endParaRPr lang="en-US" sz="89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Сравнения и логические значения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Выражение сравнения возвращает True или False и может быть сохранено в переменной.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6479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Операторы == и != проверяют равенство и неравенство; &lt;, &gt;, &lt;= и &gt;= задают отношения порядка. Операция = выполняет присваивание и не является проверкой равенства.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Логическое выражение описывает проверяемое условие. Например, продолжительность соответствует ограничению, если она не превышает установленный предел. Для чисел отрицательное значение можно проверить отдельным сравнением.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 = 125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 = 180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within_limit = duration &lt;= limit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print(within_limit)  # True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print(duration == 120) # False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print(duration != 120) # True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print(duration &lt; 0)    # False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числа и выражения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39</a:t>
            </a:r>
            <a:endParaRPr lang="en-US" sz="89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Строки и операции над текстом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Строка str представляет последовательность символов; операции над строками не являются арифметикой.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0193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 + соединяет строки, * с целым множителем повторяет строку, len() возвращает её длину в кодовых точках. Для обычного латинского слова это число букв.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Число нельзя непосредственно прибавить к строке: "CS" + 1 вызовет TypeError. Используйте str(1) или f-строку, если требуется включить число в текст.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course = "CS"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number = 1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label = course + str(number)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print(label)        # CS1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print(len(label))   # 3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print("-" * 5)      # -----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print(f"{course}{number}") # CS1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числа и выражения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39</a:t>
            </a:r>
            <a:endParaRPr lang="en-US" sz="89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Явное преобразование типов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Функции int(), float() и str() создают представление значения другого типа.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int("24") преобразует целочисленную строку, float("24.5") — строку с дробной частью, str(24) — число в текст. Преобразование должно соответствовать формату исходного значения.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int("24.5") вызывает ValueError: строка не задаёт целое число в ожидаемой записи. int(24.5) допустимо, но отбрасывает дробную часть. Это различие важно при обработке внешних данных.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1966912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print(int("24") + 6)     # 30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print(float("24.5") + 6) # 30.5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print(str(24) + "6")     # 246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print(int(24.9))         # 24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print(int(-24.9))        # -24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int("24.5") вызовет ValueError.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встроенные функции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39</a:t>
            </a:r>
            <a:endParaRPr lang="en-US" sz="89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Ввод: текст и числовые данные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input() читает одну строку; числовое преобразование выполняется отдельным действием.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Результат input() имеет тип str. Если предполагается арифметическая обработка, строку преобразуют в int или float. Число строк и порядок значений задаются условием задачи.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примере первые два ввода содержат числа 10 и 14. После преобразования программа вычисляет сумму 24.0. Без преобразования операция + соединила бы строки и дала текст "1014".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first_text = input()  # 10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second_text = input() # 14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float(first_text)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float(second_text)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print(first + second) # 24.0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print(first_text + second_text)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1014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встроенные функции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39</a:t>
            </a:r>
            <a:endParaRPr lang="en-US" sz="89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Вызов функции и порядок вычисления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Аргументы вычисляются до вызова функции, которой они передаются.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4384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выражении float(input()) внутренний вызов input() сначала возвращает строку. Затем эта строка становится аргументом float(), а результат преобразования — значением всего выражения.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print(float("2.5") * 4) сначала получает число 2.5, затем вычисляет произведение 10.0 и передаёт его в print(). Разложение выражения на промежуточные переменные позволяет проверить каждый этап.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1966912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raw = "2.5"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 = float(raw)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 = value * 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print(result)           # 10.0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Та же последовательность: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print(float("2.5") * 4) # 10.0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встроенные функции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39</a:t>
            </a:r>
            <a:endParaRPr lang="en-US" sz="89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Вывод и форматирование чисел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print() выводит значения, а f-строка позволяет задать их текстовое представление.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4384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f-строке выражение внутри фигурных скобок подставляется в текст. Спецификатор :.2f задаёт два знака после десятичной точки. Он управляет выводимой строкой и не изменяет переменную.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31337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Аргумент sep задаёт разделитель между значениями print(), end — завершение вывода. По умолчанию значения разделяются пробелом, а вызов заканчивается переводом строки.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length = 1250 / 1000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print(length)                 # 1.25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print(f"Длина: {length:.2f} м")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Длина: 1.25 м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print("ПМИ", "ФИИТ", sep=" / 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ПМИ / ФИИТ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print(f"{12.0:.1f}")          # 12.0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ввод и вывод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39</a:t>
            </a:r>
            <a:endParaRPr lang="en-US" sz="89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Программа вычисления среднего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Арифметическое среднее двух значений равно их сумме, делённой на два.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0193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Программа получает два измерения в одинаковых единицах. Вход содержит две строки с конечными числами. Результат выводится одной строкой с одним знаком после точки.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входов 10 и 14 преобразование даёт 10.0 и 14.0; сумма равна 24.0, среднее — 12.0. Скобки обеспечивают сложение до деления. Для входов −6 и 6 ожидается 0.0.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35743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float(input())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float(input())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= (first + second) / 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print(f"{mean:.1f}")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Вход: 10 и 14, две строки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Вывод: 12.0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39</a:t>
            </a:r>
            <a:endParaRPr lang="en-US" sz="89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Программа перевода единиц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Перевод миллиметров в метры выполняется делением значения на 1000.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Имя millimeters фиксирует единицу входа, meters — единицу результата. Такой выбор имён уменьшает риск смешения единиц при чтении программы.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3238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примере пользователь вводит 1250. Преобразование создаёт число 1250.0, деление даёт 1.25. Формат :.3f выводит 1.250. Дополнительный ноль относится к представлению ответа, а не к изменению значения.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millimeters = float(input())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meters = millimeters / 1000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print(f"{meters:.3f}")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Ввод: 1250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Вывод: 1.250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Проверка: 1.25 * 1000 = 1250.0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39</a:t>
            </a:r>
            <a:endParaRPr lang="en-US" sz="89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Программа обработки длительности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Целочисленное деление и остаток разделяют длительность на полные минуты и оставшиеся секунды.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18097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Вход — неотрицательное целое число секунд. Операция // 60 определяет число полных минут, а % 60 — остаток в диапазоне от 0 до 59.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125 секунд программа получает 2 минуты и 5 секунд. Обратная проверка 2 × 60 + 5 = 125 восстанавливает вход. Для 60 секунд ответ — 1 минута и 0 секунд.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total_seconds = int(input())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minutes = total_seconds // 60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seconds = total_seconds % 60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print(minutes, seconds)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Ввод: 125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Вывод: 2 5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/ 39</a:t>
            </a:r>
            <a:endParaRPr lang="en-US" sz="89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запуск: площадь прямоугольника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Готовая программа получает ширину и высоту, перемножает их и показывает площадь.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Каждое число вводится отдельной строкой. float(input()) читает введённый текст и превращает его в число. Знак * обозначает умножение.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 ширине 3 м и высоте 4 м площадь равна 12 м². Запись :.1f задаёт один знак после точки в выводе.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1966912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width = float(input())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height = float(input())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area = width * height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print(f"{area:.1f}")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Ввод: 3 и 4, две строки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Вывод: 12.0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39</a:t>
            </a:r>
            <a:endParaRPr lang="en-US" sz="89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Изменение и повторный запуск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файла и запуск программы — два отдельных действия.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Если вы изменили код, сначала сохраните файл. Затем запустите его заново, чтобы Python выполнил обновлённые команды.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Входные значения можно менять без редактирования кода. Та же программа вычислит площадь другого прямоугольника.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900238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Разбираем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Первый запуск: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ширина 3, высота 4 → площадь 12.0.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Второй запуск: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ширина 5, высота 6 → площадь 30.0.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Правило осталось тем же: умножить ширину на высоту.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/ 39</a:t>
            </a:r>
            <a:endParaRPr lang="en-US" sz="89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означает каждая строка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Программа выполняет простые действия по порядку: читает данные, вычисляет и выводит.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Имя width используется для ширины, height — для высоты, area — для площади. Имена помогают обратиться к значениям в следующих строках.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input() получает текст. float() преобразует его в число. print() показывает результат. Этих трёх функций достаточно для нашего примера.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1812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Разбираем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width = 3.0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height = 4.0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area = width * height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area получает значение 12.0.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print показывает это значение.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5762625" y="3371850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Имя переменной и её текущее значение — разные вещи.</a:t>
            </a:r>
            <a:endParaRPr lang="en-US" sz="1247" dirty="0"/>
          </a:p>
        </p:txBody>
      </p:sp>
      <p:sp>
        <p:nvSpPr>
          <p:cNvPr id="18" name="Text 15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 / 39</a:t>
            </a:r>
            <a:endParaRPr lang="en-US" sz="89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Проверяем вычисление по шагам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Чтобы понять результат, подставьте входные значения в выражение.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ширины 5 и высоты 6 программа сначала сохраняет числа 5.0 и 6.0. Затем вычисляет их произведение и получает 30.0.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Умножение можно проверить вручную. Если программа показала другое значение, сравните введённые числа и сохранённую формулу.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900238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Разбираем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Прочитали ширину: 5.0.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Прочитали высоту: 6.0.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Подставили в формулу: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5.0 × 6.0 = 30.0.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Показали пользователю: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30.0.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39</a:t>
            </a:r>
            <a:endParaRPr lang="en-US" sz="89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Добавим периметр прямоугольника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Периметр — сумма длин всех сторон: P = 2 × (ширина + высота).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Сначала складывают ширину и высоту, затем умножают сумму на два. Скобки в Python сохраняют этот порядок действий.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Добавьте вычисление периметра к готовой программе. Площадь выведите первой строкой, периметр — второй. Оба результата показываем с одним знаком после точки.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824038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Разбираем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ширины 5 и высоты 6: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площадь = 5 × 6 = 30;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периметр = 2 × (5 + 6) = 22.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809875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Ожидаемый вывод: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30.0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22.0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39</a:t>
            </a:r>
            <a:endParaRPr lang="en-US" sz="89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показать понятный результат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print() выводит результат вычисления; формат :.1f оставляет один знак после точки.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18097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Одинаковое число можно показать разными способами. Для первой лабораторной используем единый формат: два числа на двух строках без подписей.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позволяет автоматически сопоставить ответ с ожидаемым. Настройка проверки уже подготовлена преподавателем.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area = 30.0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perimeter = 22.0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print(f"{area:.1f}")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print(f"{perimeter:.1f}")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Вывод: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30.0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22.0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 / 39</a:t>
            </a:r>
            <a:endParaRPr lang="en-US" sz="89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повторить ваш запуск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Другому человеку должны быть понятны файл программы, входные данные и команда запуска.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Сохраните main.py и запишите в отчёте, какую команду использовали. Для каждого примера укажите два входных числа и фактический вывод.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Перед запуском полезно вычислить ожидаемые площадь и периметр вручную. Тогда вы сможете объяснить, почему программа дала именно такой ответ.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30981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Разбираем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Файл: main.py.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Команда: python main.py.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Вход: 5 и 6, отдельными строками.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809875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Ожидается: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площадь 30.0;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периметр 22.0.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50043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отчёте сравните прогноз и результат.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 / 39</a:t>
            </a:r>
            <a:endParaRPr lang="en-US" sz="89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ПРАКТИКА И ИСТОЧНИКИ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Лабораторная 01: площадь и периметр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Задача — запустить готовый расчёт площади и дополнить его вычислением периметра.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Сначала выполните исходную программу для сторон 3 и 4. Затем добавьте формулу периметра и вторую строку вывода.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Проверьте ещё два случая: стороны 5 и 6; стороны 2.5 и 4. Стороны положительны и выражены в одинаковых единицах. Дробную часть вводите через точку.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23361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Разбираем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сдаём: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— работающая программа;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REPORT.md — входы, прогнозы, результаты и объяснение.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3014663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Проверку запускаем готовой командой из README. Подробно писать настройки GitHub сегодня не нужно.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 / 39</a:t>
            </a:r>
            <a:endParaRPr lang="en-US" sz="89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ПРАКТИКА И ИСТОЧНИКИ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Проверьте себя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Объясните ответы словами, затем сравните их с разбором.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Вопросы относятся только к разобранным действиям. Можно пользоваться программой и своими записями.</a:t>
            </a:r>
            <a:endParaRPr lang="en-US" sz="1283" dirty="0"/>
          </a:p>
        </p:txBody>
      </p:sp>
      <p:sp>
        <p:nvSpPr>
          <p:cNvPr id="11" name="Shape 8"/>
          <p:cNvSpPr/>
          <p:nvPr/>
        </p:nvSpPr>
        <p:spPr>
          <a:xfrm>
            <a:off x="5619750" y="1743075"/>
            <a:ext cx="3048000" cy="1976438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2" name="Text 9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Разбираем пример</a:t>
            </a:r>
            <a:endParaRPr lang="en-US" sz="962" dirty="0"/>
          </a:p>
        </p:txBody>
      </p:sp>
      <p:sp>
        <p:nvSpPr>
          <p:cNvPr id="13" name="Text 10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Для чего нужны width и height?</a:t>
            </a:r>
            <a:endParaRPr lang="en-US" sz="1247" dirty="0"/>
          </a:p>
        </p:txBody>
      </p:sp>
      <p:sp>
        <p:nvSpPr>
          <p:cNvPr id="14" name="Text 11"/>
          <p:cNvSpPr/>
          <p:nvPr/>
        </p:nvSpPr>
        <p:spPr>
          <a:xfrm>
            <a:off x="5762625" y="2400300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Что получает input()?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812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Почему в формуле периметра нужны скобки?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16706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 Чему равны площадь и периметр квадрата со стороной 3?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 / 39</a:t>
            </a:r>
            <a:endParaRPr lang="en-US" sz="89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ПРАКТИКА И ИСТОЧНИКИ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Ответы с объяснениями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Имена помогают использовать значения, а формула задаёт порядок вычислений.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width обозначает ширину, height — высоту. input() получает строку текста; float() преобразует подходящую числовую строку в число.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формуле 2 * (width + height) сначала складывают стороны. Без скобок порядок действий будет другим.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824038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Разбираем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квадрата 3 × 3: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площадь = 3 × 3 = 9;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периметр = 2 × (3 + 3) = 12.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809875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программы: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9.0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12.0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 / 39</a:t>
            </a:r>
            <a:endParaRPr lang="en-US" sz="89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ФИИТ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ПРАКТИКА И ИСТОЧНИКИ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почитать после лекции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Дополнительные объяснения доступны в учебных материалах и документации Python.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1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первой лекции достаточно понимать данные, простые вычисления, переменные и ввод-вывод. Возвращайтесь к примерам и пробуйте заменять числа своими.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476250" y="2238375"/>
            <a:ext cx="8191500" cy="200025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38375"/>
            <a:ext cx="8191500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66950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Harvard CS50 · введение</a:t>
            </a:r>
            <a:endParaRPr lang="en-US" sz="998" dirty="0"/>
          </a:p>
        </p:txBody>
      </p:sp>
      <p:sp>
        <p:nvSpPr>
          <p:cNvPr id="13" name="Text 10"/>
          <p:cNvSpPr/>
          <p:nvPr/>
        </p:nvSpPr>
        <p:spPr>
          <a:xfrm>
            <a:off x="3543300" y="2266950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https://cs50.harvard.edu/x/notes/0/</a:t>
            </a:r>
            <a:endParaRPr lang="en-US" sz="891" dirty="0"/>
          </a:p>
        </p:txBody>
      </p:sp>
      <p:sp>
        <p:nvSpPr>
          <p:cNvPr id="14" name="Shape 11"/>
          <p:cNvSpPr/>
          <p:nvPr/>
        </p:nvSpPr>
        <p:spPr>
          <a:xfrm>
            <a:off x="476250" y="2738438"/>
            <a:ext cx="8191500" cy="500063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767013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первые вычисления</a:t>
            </a:r>
            <a:endParaRPr lang="en-US" sz="998" dirty="0"/>
          </a:p>
        </p:txBody>
      </p:sp>
      <p:sp>
        <p:nvSpPr>
          <p:cNvPr id="16" name="Text 13"/>
          <p:cNvSpPr/>
          <p:nvPr/>
        </p:nvSpPr>
        <p:spPr>
          <a:xfrm>
            <a:off x="3543300" y="2767013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https://docs.python.org/3/tutorial/introduction.html</a:t>
            </a:r>
            <a:endParaRPr lang="en-US" sz="891" dirty="0"/>
          </a:p>
        </p:txBody>
      </p:sp>
      <p:sp>
        <p:nvSpPr>
          <p:cNvPr id="17" name="Shape 14"/>
          <p:cNvSpPr/>
          <p:nvPr/>
        </p:nvSpPr>
        <p:spPr>
          <a:xfrm>
            <a:off x="476250" y="3238500"/>
            <a:ext cx="8191500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267075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запуск программ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3543300" y="3267075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https://docs.python.org/3/tutorial/interpreter.html</a:t>
            </a:r>
            <a:endParaRPr lang="en-US" sz="891" dirty="0"/>
          </a:p>
        </p:txBody>
      </p:sp>
      <p:sp>
        <p:nvSpPr>
          <p:cNvPr id="20" name="Shape 17"/>
          <p:cNvSpPr/>
          <p:nvPr/>
        </p:nvSpPr>
        <p:spPr>
          <a:xfrm>
            <a:off x="476250" y="3738563"/>
            <a:ext cx="8191500" cy="500063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767138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input и print</a:t>
            </a:r>
            <a:endParaRPr lang="en-US" sz="998" dirty="0"/>
          </a:p>
        </p:txBody>
      </p:sp>
      <p:sp>
        <p:nvSpPr>
          <p:cNvPr id="22" name="Text 19"/>
          <p:cNvSpPr/>
          <p:nvPr/>
        </p:nvSpPr>
        <p:spPr>
          <a:xfrm>
            <a:off x="3543300" y="3767138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https://docs.python.org/3/library/functions.html</a:t>
            </a:r>
            <a:endParaRPr lang="en-US" sz="891" dirty="0"/>
          </a:p>
        </p:txBody>
      </p:sp>
      <p:sp>
        <p:nvSpPr>
          <p:cNvPr id="23" name="Text 20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4" name="Text 21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39</a:t>
            </a:r>
            <a:endParaRPr lang="en-US" sz="89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2026-09-08T10:27:07Z</dcterms:created>
  <dcterms:modified xsi:type="dcterms:W3CDTF">2026-09-08T10:27:07Z</dcterms:modified>
</cp:coreProperties>
</file>